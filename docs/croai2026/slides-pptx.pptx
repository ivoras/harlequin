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2" r:id="rId4"/>
    <p:sldId id="258" r:id="rId5"/>
    <p:sldId id="259" r:id="rId6"/>
    <p:sldId id="261" r:id="rId7"/>
    <p:sldId id="284" r:id="rId8"/>
    <p:sldId id="286" r:id="rId9"/>
    <p:sldId id="285" r:id="rId10"/>
    <p:sldId id="262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87" r:id="rId19"/>
    <p:sldId id="271" r:id="rId20"/>
    <p:sldId id="272" r:id="rId21"/>
    <p:sldId id="273" r:id="rId22"/>
    <p:sldId id="274" r:id="rId23"/>
    <p:sldId id="283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99" d="100"/>
          <a:sy n="199" d="100"/>
        </p:scale>
        <p:origin x="3222" y="15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Frame the talk: the interesting engineering is in the intersection — multi-user expectations (memory, notifications, background work) colliding with a single slow local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Demo: the TUI asking for a watch price — WebFetch with anti-bot fetching, a delegated small-model analysis, and the answer with per-turn PP/TG timing. Let it loop while introducing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Cloud-API thinking does not transfer: timeouts, retries, and parallel calls all have to be re-derived when PP is 300 tok/s and TG is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War story: “two prompts at once” turned out to be three separate ungated paths — extraction’s judge calls, the auto-titler, and a startup cross-scope sweep. Found by tailing llama.cpp slot logs (launch/release lines per task). The debugging method is as interesting as the fix for this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Verified empirically: system prompt byte-identical across 6 turns (sha1 diff of session logs), so the miss was NOT app-side. llama.cpp’s n_past logs show where reuse happens. Good “measure, don’t guess”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Contrast with laptop-local harnesses: identity, authz, and audit are first-class. The agent loop runs server-side, so any thin client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Ops story: a single file + a data directory. The deploy-with-manifest trick is the interesting part — it’s how baked skills coexist with local edits.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“Why not Postgres+pgvector?” — deployment story (single binary, zero services) and per-user isolation. Be honest about limits: write concurrency per file, EachUser sweeps are sequential.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Conflict detection embeds + searches first, judges only candidates. This is the cost-control pattern repeated across the whole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Two lessons: (1) modest, weighted extra legs sharpen the top rank; (2) embedding the </a:t>
            </a:r>
            <a:r>
              <a:rPr i="1"/>
              <a:t>value</a:t>
            </a:r>
            <a:r>
              <a:t> into the slot vector actively hurts — attribute lookups ask FOR the value, so value text is noise against the query. Over-weighting boosts everything sharing an attribute key and pushes the exact entity off rank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Emphasize the autonomous-judgment rule: every unattended LLM decision carries a self-reported confidence and is discarded below 7 — silence over placeholder garbage. A harness-level convention, not per-feature.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same templating runs for skills, hats, and the default system prompt. Point at the snippet: the memory block is not static text — it globs the user's slot-keyed memories at render time, so each user gets a different prompt from the same file. ctx also exposes memorySearch and searchDocs for RAG-into-prompt. Tie back to the byte-stable-prefix point: this block only changes when memory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js-vs-skill cron split is the cost story again: a page-change watcher runs every 30 min for free; the LLM only wakes up when something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Live anecdote: asked for 200 digits of π, the model wrote a Machin-formula arctan series with BigInt in the sandbox, first try had a sign bug, second try correct — verified against mpmath. Algorithm-not-recall is enforced by the system prompt; the sandbox makes it safe to let a model run code on a shared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ML experts will appreciate that harness design substitutes for model capability: the same model fails or succeeds depending on prompt structure and verification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kehir.com/blog/strix-halo-kubernetes-llm-gemma-4" TargetMode="External"/><Relationship Id="rId2" Type="http://schemas.openxmlformats.org/officeDocument/2006/relationships/hyperlink" Target="https://forum.level1techs.com/t/strix-halo-ryzen-ai-max-395-llm-benchmark-results/23379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imultiple.com/dgx-spark-alternatives" TargetMode="External"/><Relationship Id="rId4" Type="http://schemas.openxmlformats.org/officeDocument/2006/relationships/hyperlink" Target="https://hn.nuxt.dev/item/47863217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9161" y="2683092"/>
            <a:ext cx="8182230" cy="1265860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rPr lang="en-GB" sz="5000" dirty="0"/>
              <a:t>Harlequin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9160" y="4245455"/>
            <a:ext cx="8182233" cy="776378"/>
          </a:xfrm>
        </p:spPr>
        <p:txBody>
          <a:bodyPr anchor="t"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GB" sz="1400" dirty="0"/>
              <a:t>A local-first client-server AI agent harness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/>
              <a:t>Ivan Voras · </a:t>
            </a:r>
            <a:r>
              <a:rPr lang="en-GB" sz="1400" dirty="0" err="1"/>
              <a:t>CroAI</a:t>
            </a:r>
            <a:endParaRPr lang="en-GB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53DE3-EB29-F9BF-C99C-BB10A1C5D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820061" y="443752"/>
            <a:ext cx="3500431" cy="2056503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4131789"/>
            <a:ext cx="3429000" cy="13716"/>
          </a:xfrm>
          <a:custGeom>
            <a:avLst/>
            <a:gdLst>
              <a:gd name="csX0" fmla="*/ 0 w 3429000"/>
              <a:gd name="csY0" fmla="*/ 0 h 13716"/>
              <a:gd name="csX1" fmla="*/ 685800 w 3429000"/>
              <a:gd name="csY1" fmla="*/ 0 h 13716"/>
              <a:gd name="csX2" fmla="*/ 1371600 w 3429000"/>
              <a:gd name="csY2" fmla="*/ 0 h 13716"/>
              <a:gd name="csX3" fmla="*/ 2057400 w 3429000"/>
              <a:gd name="csY3" fmla="*/ 0 h 13716"/>
              <a:gd name="csX4" fmla="*/ 2674620 w 3429000"/>
              <a:gd name="csY4" fmla="*/ 0 h 13716"/>
              <a:gd name="csX5" fmla="*/ 3429000 w 3429000"/>
              <a:gd name="csY5" fmla="*/ 0 h 13716"/>
              <a:gd name="csX6" fmla="*/ 3429000 w 3429000"/>
              <a:gd name="csY6" fmla="*/ 13716 h 13716"/>
              <a:gd name="csX7" fmla="*/ 2811780 w 3429000"/>
              <a:gd name="csY7" fmla="*/ 13716 h 13716"/>
              <a:gd name="csX8" fmla="*/ 2228850 w 3429000"/>
              <a:gd name="csY8" fmla="*/ 13716 h 13716"/>
              <a:gd name="csX9" fmla="*/ 1543050 w 3429000"/>
              <a:gd name="csY9" fmla="*/ 13716 h 13716"/>
              <a:gd name="csX10" fmla="*/ 925830 w 3429000"/>
              <a:gd name="csY10" fmla="*/ 13716 h 13716"/>
              <a:gd name="csX11" fmla="*/ 0 w 3429000"/>
              <a:gd name="csY11" fmla="*/ 13716 h 13716"/>
              <a:gd name="csX12" fmla="*/ 0 w 3429000"/>
              <a:gd name="csY12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3716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214" y="4075"/>
                  <a:pt x="3429316" y="9784"/>
                  <a:pt x="3429000" y="13716"/>
                </a:cubicBezTo>
                <a:cubicBezTo>
                  <a:pt x="3221081" y="44036"/>
                  <a:pt x="3088001" y="3494"/>
                  <a:pt x="2811780" y="13716"/>
                </a:cubicBezTo>
                <a:cubicBezTo>
                  <a:pt x="2535559" y="23938"/>
                  <a:pt x="2481355" y="20326"/>
                  <a:pt x="2228850" y="13716"/>
                </a:cubicBezTo>
                <a:cubicBezTo>
                  <a:pt x="1976345" y="7107"/>
                  <a:pt x="1807520" y="43784"/>
                  <a:pt x="1543050" y="13716"/>
                </a:cubicBezTo>
                <a:cubicBezTo>
                  <a:pt x="1278580" y="-16352"/>
                  <a:pt x="1181944" y="551"/>
                  <a:pt x="925830" y="13716"/>
                </a:cubicBezTo>
                <a:cubicBezTo>
                  <a:pt x="669716" y="26881"/>
                  <a:pt x="410304" y="30243"/>
                  <a:pt x="0" y="13716"/>
                </a:cubicBezTo>
                <a:cubicBezTo>
                  <a:pt x="-535" y="8247"/>
                  <a:pt x="-201" y="2959"/>
                  <a:pt x="0" y="0"/>
                </a:cubicBezTo>
                <a:close/>
              </a:path>
              <a:path w="3429000" h="13716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8434" y="5320"/>
                  <a:pt x="3428676" y="9001"/>
                  <a:pt x="3429000" y="13716"/>
                </a:cubicBezTo>
                <a:cubicBezTo>
                  <a:pt x="3103464" y="-3979"/>
                  <a:pt x="2887909" y="18368"/>
                  <a:pt x="2743200" y="13716"/>
                </a:cubicBezTo>
                <a:cubicBezTo>
                  <a:pt x="2598491" y="9064"/>
                  <a:pt x="2362615" y="6084"/>
                  <a:pt x="1988820" y="13716"/>
                </a:cubicBezTo>
                <a:cubicBezTo>
                  <a:pt x="1615025" y="21348"/>
                  <a:pt x="1580494" y="-880"/>
                  <a:pt x="1405890" y="13716"/>
                </a:cubicBezTo>
                <a:cubicBezTo>
                  <a:pt x="1231286" y="28312"/>
                  <a:pt x="885259" y="-20857"/>
                  <a:pt x="651510" y="13716"/>
                </a:cubicBezTo>
                <a:cubicBezTo>
                  <a:pt x="417761" y="48289"/>
                  <a:pt x="138362" y="-18428"/>
                  <a:pt x="0" y="13716"/>
                </a:cubicBezTo>
                <a:cubicBezTo>
                  <a:pt x="58" y="7834"/>
                  <a:pt x="453" y="583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hr-HR" dirty="0" err="1"/>
              <a:t>Why</a:t>
            </a:r>
            <a:r>
              <a:rPr lang="hr-HR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dirty="0"/>
              <a:t>Agent harnesses are oddly </a:t>
            </a:r>
            <a:r>
              <a:rPr b="1" dirty="0"/>
              <a:t>local</a:t>
            </a:r>
            <a:r>
              <a:rPr dirty="0"/>
              <a:t>: </a:t>
            </a:r>
            <a:endParaRPr lang="hr-HR" dirty="0"/>
          </a:p>
          <a:p>
            <a:pPr lvl="1"/>
            <a:r>
              <a:rPr dirty="0"/>
              <a:t>one user, </a:t>
            </a:r>
            <a:r>
              <a:rPr lang="hr-HR" dirty="0" err="1"/>
              <a:t>local</a:t>
            </a:r>
            <a:r>
              <a:rPr lang="hr-HR" dirty="0"/>
              <a:t> </a:t>
            </a:r>
            <a:r>
              <a:rPr dirty="0"/>
              <a:t>process, cloud LLM</a:t>
            </a:r>
            <a:endParaRPr lang="hr-HR" dirty="0"/>
          </a:p>
          <a:p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about</a:t>
            </a:r>
            <a:r>
              <a:rPr lang="hr-HR" dirty="0"/>
              <a:t> </a:t>
            </a:r>
            <a:r>
              <a:rPr lang="hr-HR" dirty="0" err="1"/>
              <a:t>shared</a:t>
            </a:r>
            <a:r>
              <a:rPr lang="hr-HR" dirty="0"/>
              <a:t> </a:t>
            </a:r>
            <a:r>
              <a:rPr lang="hr-HR" dirty="0" err="1"/>
              <a:t>environment</a:t>
            </a:r>
            <a:r>
              <a:rPr lang="hr-HR" dirty="0"/>
              <a:t>? Business </a:t>
            </a:r>
            <a:r>
              <a:rPr lang="hr-HR" dirty="0" err="1"/>
              <a:t>usage</a:t>
            </a:r>
            <a:r>
              <a:rPr lang="hr-HR" dirty="0"/>
              <a:t>? Security?</a:t>
            </a:r>
          </a:p>
          <a:p>
            <a:r>
              <a:rPr lang="hr-HR" b="1" dirty="0" err="1"/>
              <a:t>Why</a:t>
            </a:r>
            <a:r>
              <a:rPr lang="hr-HR" b="1" dirty="0"/>
              <a:t> </a:t>
            </a:r>
            <a:r>
              <a:rPr lang="hr-HR" b="1" dirty="0" err="1"/>
              <a:t>not</a:t>
            </a:r>
            <a:r>
              <a:rPr lang="hr-HR" b="1" dirty="0"/>
              <a:t> make </a:t>
            </a:r>
            <a:r>
              <a:rPr lang="hr-HR" b="1" dirty="0" err="1"/>
              <a:t>it</a:t>
            </a:r>
            <a:r>
              <a:rPr lang="hr-HR" b="1" dirty="0"/>
              <a:t> </a:t>
            </a:r>
            <a:r>
              <a:rPr lang="hr-HR" b="1" dirty="0" err="1"/>
              <a:t>client</a:t>
            </a:r>
            <a:r>
              <a:rPr lang="hr-HR" b="1" dirty="0"/>
              <a:t>-server-</a:t>
            </a:r>
            <a:r>
              <a:rPr lang="hr-HR" b="1" dirty="0" err="1"/>
              <a:t>first</a:t>
            </a:r>
            <a:r>
              <a:rPr lang="hr-HR" b="1" dirty="0"/>
              <a:t>, </a:t>
            </a:r>
            <a:r>
              <a:rPr lang="hr-HR" b="1" dirty="0" err="1"/>
              <a:t>org-aware</a:t>
            </a:r>
            <a:r>
              <a:rPr lang="hr-HR" b="1" dirty="0"/>
              <a:t>, </a:t>
            </a:r>
            <a:br>
              <a:rPr lang="hr-HR" b="1" dirty="0"/>
            </a:br>
            <a:r>
              <a:rPr lang="hr-HR" b="1" dirty="0" err="1"/>
              <a:t>local</a:t>
            </a:r>
            <a:r>
              <a:rPr lang="hr-HR" b="1" dirty="0"/>
              <a:t> LLM-</a:t>
            </a:r>
            <a:r>
              <a:rPr lang="hr-HR" b="1" dirty="0" err="1"/>
              <a:t>optimized</a:t>
            </a:r>
            <a:endParaRPr b="1" dirty="0"/>
          </a:p>
          <a:p>
            <a:r>
              <a:rPr dirty="0"/>
              <a:t>Two tensions drive every design decision in this talk:</a:t>
            </a:r>
          </a:p>
          <a:p>
            <a:pPr lvl="1">
              <a:buAutoNum type="arabicPeriod"/>
            </a:pPr>
            <a:r>
              <a:rPr dirty="0"/>
              <a:t>The GPU is a contended resource</a:t>
            </a:r>
          </a:p>
          <a:p>
            <a:pPr lvl="1">
              <a:buAutoNum type="arabicPeriod"/>
            </a:pPr>
            <a:r>
              <a:rPr dirty="0"/>
              <a:t>Every token costs latency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B32D2-7D99-4224-5E25-AD1A0493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8E1B5-719C-8BC3-EB6E-E79A12F30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noProof="0" dirty="0"/>
              <a:t>Harlequin: a </a:t>
            </a:r>
            <a:r>
              <a:rPr lang="en-US" b="1" noProof="0" dirty="0"/>
              <a:t>client-server</a:t>
            </a:r>
            <a:r>
              <a:rPr lang="en-US" noProof="0" dirty="0"/>
              <a:t> AI agent harness</a:t>
            </a:r>
          </a:p>
          <a:p>
            <a:pPr lvl="1"/>
            <a:r>
              <a:rPr lang="en-US" noProof="0" dirty="0"/>
              <a:t>REST/SSE server</a:t>
            </a:r>
          </a:p>
          <a:p>
            <a:pPr lvl="1"/>
            <a:r>
              <a:rPr lang="hr-HR" noProof="0" dirty="0"/>
              <a:t>T</a:t>
            </a:r>
            <a:r>
              <a:rPr lang="en-US" noProof="0" dirty="0" err="1"/>
              <a:t>hin</a:t>
            </a:r>
            <a:r>
              <a:rPr lang="en-US" noProof="0" dirty="0"/>
              <a:t> clients</a:t>
            </a:r>
          </a:p>
          <a:p>
            <a:pPr lvl="1"/>
            <a:r>
              <a:rPr lang="hr-HR" noProof="0" dirty="0"/>
              <a:t>O</a:t>
            </a:r>
            <a:r>
              <a:rPr lang="en-US" noProof="0" dirty="0" err="1"/>
              <a:t>ptimized</a:t>
            </a:r>
            <a:r>
              <a:rPr lang="en-US" noProof="0" dirty="0"/>
              <a:t> for a </a:t>
            </a:r>
            <a:r>
              <a:rPr lang="en-US" b="1" noProof="0" dirty="0"/>
              <a:t>local model</a:t>
            </a:r>
            <a:r>
              <a:rPr lang="en-US" noProof="0" dirty="0"/>
              <a:t>: one GPU, slow tokens, every token paid in latency</a:t>
            </a:r>
          </a:p>
          <a:p>
            <a:pPr lvl="0"/>
            <a:r>
              <a:rPr lang="en-US" noProof="0" dirty="0"/>
              <a:t>Research project · Go · SQLite · </a:t>
            </a:r>
            <a:r>
              <a:rPr lang="en-US" noProof="0" dirty="0" err="1"/>
              <a:t>goja</a:t>
            </a:r>
            <a:r>
              <a:rPr lang="en-US" noProof="0" dirty="0"/>
              <a:t> JS sandbox</a:t>
            </a:r>
          </a:p>
          <a:p>
            <a:pPr lvl="1"/>
            <a:r>
              <a:rPr lang="en-US" noProof="0" dirty="0"/>
              <a:t>Lightweight, no bells-and-whistles</a:t>
            </a:r>
          </a:p>
          <a:p>
            <a:pPr lvl="1"/>
            <a:r>
              <a:rPr lang="en-US" noProof="0" dirty="0"/>
              <a:t>Dubiously useful</a:t>
            </a:r>
          </a:p>
        </p:txBody>
      </p:sp>
    </p:spTree>
    <p:extLst>
      <p:ext uri="{BB962C8B-B14F-4D97-AF65-F5344CB8AC3E}">
        <p14:creationId xmlns:p14="http://schemas.microsoft.com/office/powerpoint/2010/main" val="4250528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Grp="1" noChangeAspect="1"/>
          </p:cNvPicPr>
          <p:nvPr/>
        </p:nvPicPr>
        <p:blipFill>
          <a:blip r:embed="rId3"/>
          <a:srcRect/>
          <a:stretch/>
        </p:blipFill>
        <p:spPr bwMode="auto">
          <a:xfrm>
            <a:off x="322187" y="153348"/>
            <a:ext cx="8499625" cy="483680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639C06F-59B3-405E-921B-ABE4258A4093}"/>
              </a:ext>
            </a:extLst>
          </p:cNvPr>
          <p:cNvSpPr/>
          <p:nvPr/>
        </p:nvSpPr>
        <p:spPr>
          <a:xfrm>
            <a:off x="7051675" y="3378200"/>
            <a:ext cx="1765300" cy="16637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2211E4-5B1D-927A-B5B2-4016254CD166}"/>
              </a:ext>
            </a:extLst>
          </p:cNvPr>
          <p:cNvSpPr/>
          <p:nvPr/>
        </p:nvSpPr>
        <p:spPr>
          <a:xfrm>
            <a:off x="5200650" y="3378200"/>
            <a:ext cx="1765300" cy="16637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563423-F510-6F5C-2A0D-6B970AB6774F}"/>
              </a:ext>
            </a:extLst>
          </p:cNvPr>
          <p:cNvSpPr/>
          <p:nvPr/>
        </p:nvSpPr>
        <p:spPr>
          <a:xfrm>
            <a:off x="2308225" y="374650"/>
            <a:ext cx="6610350" cy="281305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748D65-1BBB-65E3-892B-047A3C9E5D07}"/>
              </a:ext>
            </a:extLst>
          </p:cNvPr>
          <p:cNvSpPr/>
          <p:nvPr/>
        </p:nvSpPr>
        <p:spPr>
          <a:xfrm>
            <a:off x="4845049" y="1549400"/>
            <a:ext cx="1536699" cy="46355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Agent </a:t>
            </a:r>
            <a:r>
              <a:rPr lang="hr-HR" dirty="0" err="1"/>
              <a:t>loop</a:t>
            </a:r>
            <a:br>
              <a:rPr lang="hr-HR" dirty="0"/>
            </a:br>
            <a:r>
              <a:rPr lang="hr-HR" sz="1050" dirty="0"/>
              <a:t>(Per-</a:t>
            </a:r>
            <a:r>
              <a:rPr lang="hr-HR" sz="1050" dirty="0" err="1"/>
              <a:t>user</a:t>
            </a:r>
            <a:r>
              <a:rPr lang="hr-HR" sz="1050" dirty="0"/>
              <a:t>)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FB0567-273A-AA58-E8C2-686A85803AD3}"/>
              </a:ext>
            </a:extLst>
          </p:cNvPr>
          <p:cNvSpPr/>
          <p:nvPr/>
        </p:nvSpPr>
        <p:spPr>
          <a:xfrm>
            <a:off x="2695575" y="2165350"/>
            <a:ext cx="1536700" cy="4635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400" dirty="0" err="1"/>
              <a:t>Background</a:t>
            </a:r>
            <a:r>
              <a:rPr lang="hr-HR" sz="1400" dirty="0"/>
              <a:t> </a:t>
            </a:r>
            <a:r>
              <a:rPr lang="hr-HR" sz="1400" dirty="0" err="1"/>
              <a:t>jobs</a:t>
            </a:r>
            <a:endParaRPr lang="en-GB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4C3844-9CF8-7B18-254C-A9F306CA2C96}"/>
              </a:ext>
            </a:extLst>
          </p:cNvPr>
          <p:cNvSpPr/>
          <p:nvPr/>
        </p:nvSpPr>
        <p:spPr>
          <a:xfrm>
            <a:off x="7165975" y="892175"/>
            <a:ext cx="1536700" cy="4635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400" dirty="0" err="1"/>
              <a:t>Skills</a:t>
            </a:r>
            <a:r>
              <a:rPr lang="hr-HR" sz="1400" dirty="0"/>
              <a:t> + </a:t>
            </a:r>
            <a:r>
              <a:rPr lang="hr-HR" sz="1400" dirty="0" err="1"/>
              <a:t>hats</a:t>
            </a:r>
            <a:endParaRPr lang="en-GB" sz="1400" dirty="0"/>
          </a:p>
        </p:txBody>
      </p:sp>
      <p:sp>
        <p:nvSpPr>
          <p:cNvPr id="9" name="Flowchart: Magnetic Disk 8">
            <a:extLst>
              <a:ext uri="{FF2B5EF4-FFF2-40B4-BE49-F238E27FC236}">
                <a16:creationId xmlns:a16="http://schemas.microsoft.com/office/drawing/2014/main" id="{B3E46EBF-1018-53A2-C9B4-3573ED860BD6}"/>
              </a:ext>
            </a:extLst>
          </p:cNvPr>
          <p:cNvSpPr/>
          <p:nvPr/>
        </p:nvSpPr>
        <p:spPr>
          <a:xfrm>
            <a:off x="7086600" y="2022475"/>
            <a:ext cx="1695450" cy="606425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100" dirty="0" err="1"/>
              <a:t>SQLite</a:t>
            </a:r>
            <a:endParaRPr lang="hr-HR" sz="1100" dirty="0"/>
          </a:p>
          <a:p>
            <a:pPr algn="ctr"/>
            <a:r>
              <a:rPr lang="hr-HR" sz="1100" dirty="0"/>
              <a:t>FTS + </a:t>
            </a:r>
            <a:r>
              <a:rPr lang="hr-HR" sz="1100" dirty="0" err="1"/>
              <a:t>vector</a:t>
            </a:r>
            <a:r>
              <a:rPr lang="hr-HR" sz="1100" dirty="0"/>
              <a:t> </a:t>
            </a:r>
            <a:r>
              <a:rPr lang="hr-HR" sz="1100" dirty="0" err="1"/>
              <a:t>db</a:t>
            </a:r>
            <a:endParaRPr lang="hr-HR" sz="1100" dirty="0"/>
          </a:p>
          <a:p>
            <a:pPr algn="ctr"/>
            <a:r>
              <a:rPr lang="hr-HR" sz="1100" dirty="0" err="1"/>
              <a:t>System+Shared+Per-user</a:t>
            </a:r>
            <a:endParaRPr lang="hr-HR" sz="1100" dirty="0"/>
          </a:p>
          <a:p>
            <a:pPr algn="ctr"/>
            <a:endParaRPr lang="en-GB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A5E24C-F8B8-A7EE-D2D2-4057E00599A0}"/>
              </a:ext>
            </a:extLst>
          </p:cNvPr>
          <p:cNvSpPr txBox="1"/>
          <p:nvPr/>
        </p:nvSpPr>
        <p:spPr>
          <a:xfrm>
            <a:off x="4429197" y="374650"/>
            <a:ext cx="2368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 err="1">
                <a:solidFill>
                  <a:schemeClr val="tx2">
                    <a:lumMod val="50000"/>
                  </a:schemeClr>
                </a:solidFill>
              </a:rPr>
              <a:t>Go</a:t>
            </a:r>
            <a:r>
              <a:rPr lang="hr-HR" dirty="0">
                <a:solidFill>
                  <a:schemeClr val="tx2">
                    <a:lumMod val="50000"/>
                  </a:schemeClr>
                </a:solidFill>
              </a:rPr>
              <a:t> server, single </a:t>
            </a:r>
            <a:r>
              <a:rPr lang="hr-HR" dirty="0" err="1">
                <a:solidFill>
                  <a:schemeClr val="tx2">
                    <a:lumMod val="50000"/>
                  </a:schemeClr>
                </a:solidFill>
              </a:rPr>
              <a:t>binary</a:t>
            </a:r>
            <a:endParaRPr lang="en-GB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968502C-8967-DA7F-4346-56FEA3BFA2D4}"/>
              </a:ext>
            </a:extLst>
          </p:cNvPr>
          <p:cNvCxnSpPr>
            <a:stCxn id="7" idx="1"/>
            <a:endCxn id="4" idx="0"/>
          </p:cNvCxnSpPr>
          <p:nvPr/>
        </p:nvCxnSpPr>
        <p:spPr>
          <a:xfrm rot="10800000" flipV="1">
            <a:off x="5613399" y="1123950"/>
            <a:ext cx="1552576" cy="42545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C89248F-BED9-A07B-3846-64E217D59D83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4149725" y="1130300"/>
            <a:ext cx="695324" cy="65087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7FB6CC6D-D94A-B438-241C-A922F937462C}"/>
              </a:ext>
            </a:extLst>
          </p:cNvPr>
          <p:cNvCxnSpPr>
            <a:stCxn id="6" idx="3"/>
            <a:endCxn id="4" idx="2"/>
          </p:cNvCxnSpPr>
          <p:nvPr/>
        </p:nvCxnSpPr>
        <p:spPr>
          <a:xfrm flipV="1">
            <a:off x="4232275" y="2012950"/>
            <a:ext cx="1381124" cy="38417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39CE4829-1B9E-467C-F70D-4A2D09BFC6A3}"/>
              </a:ext>
            </a:extLst>
          </p:cNvPr>
          <p:cNvCxnSpPr>
            <a:stCxn id="9" idx="2"/>
            <a:endCxn id="4" idx="3"/>
          </p:cNvCxnSpPr>
          <p:nvPr/>
        </p:nvCxnSpPr>
        <p:spPr>
          <a:xfrm rot="10800000">
            <a:off x="6381748" y="1781176"/>
            <a:ext cx="704852" cy="54451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44BB23C-0ACA-7A29-1A07-DB35CBABEE76}"/>
              </a:ext>
            </a:extLst>
          </p:cNvPr>
          <p:cNvSpPr/>
          <p:nvPr/>
        </p:nvSpPr>
        <p:spPr>
          <a:xfrm>
            <a:off x="225425" y="547686"/>
            <a:ext cx="1536700" cy="4635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2">
                    <a:lumMod val="50000"/>
                  </a:schemeClr>
                </a:solidFill>
              </a:rPr>
              <a:t>TUI </a:t>
            </a:r>
            <a:r>
              <a:rPr lang="hr-HR" dirty="0" err="1">
                <a:solidFill>
                  <a:schemeClr val="tx2">
                    <a:lumMod val="50000"/>
                  </a:schemeClr>
                </a:solidFill>
              </a:rPr>
              <a:t>client</a:t>
            </a:r>
            <a:endParaRPr lang="en-GB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7AA1B8-5892-C1DB-6B2C-1E822CFE1913}"/>
              </a:ext>
            </a:extLst>
          </p:cNvPr>
          <p:cNvSpPr/>
          <p:nvPr/>
        </p:nvSpPr>
        <p:spPr>
          <a:xfrm>
            <a:off x="225425" y="1301748"/>
            <a:ext cx="1536700" cy="4635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2">
                    <a:lumMod val="50000"/>
                  </a:schemeClr>
                </a:solidFill>
              </a:rPr>
              <a:t>Web UI</a:t>
            </a:r>
            <a:endParaRPr lang="en-GB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8CEB35A9-DD09-4CC0-53B2-D65CB0D6EBD9}"/>
              </a:ext>
            </a:extLst>
          </p:cNvPr>
          <p:cNvCxnSpPr>
            <a:stCxn id="22" idx="3"/>
            <a:endCxn id="5" idx="0"/>
          </p:cNvCxnSpPr>
          <p:nvPr/>
        </p:nvCxnSpPr>
        <p:spPr>
          <a:xfrm>
            <a:off x="1762125" y="779461"/>
            <a:ext cx="1619250" cy="11906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ECD336C3-23E4-960D-4113-6698888B8E1E}"/>
              </a:ext>
            </a:extLst>
          </p:cNvPr>
          <p:cNvCxnSpPr>
            <a:stCxn id="23" idx="3"/>
            <a:endCxn id="5" idx="2"/>
          </p:cNvCxnSpPr>
          <p:nvPr/>
        </p:nvCxnSpPr>
        <p:spPr>
          <a:xfrm flipV="1">
            <a:off x="1762125" y="1362075"/>
            <a:ext cx="1619250" cy="17144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6AA3DFD-9999-48DB-88E0-C9A27A6FD150}"/>
              </a:ext>
            </a:extLst>
          </p:cNvPr>
          <p:cNvSpPr/>
          <p:nvPr/>
        </p:nvSpPr>
        <p:spPr>
          <a:xfrm>
            <a:off x="2613025" y="898525"/>
            <a:ext cx="1536700" cy="4635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REST / SSE API</a:t>
            </a:r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12A53F-5EAA-4C2C-7AC4-226CFE9D9E26}"/>
              </a:ext>
            </a:extLst>
          </p:cNvPr>
          <p:cNvSpPr/>
          <p:nvPr/>
        </p:nvSpPr>
        <p:spPr>
          <a:xfrm>
            <a:off x="225425" y="2053432"/>
            <a:ext cx="1536700" cy="463550"/>
          </a:xfrm>
          <a:prstGeom prst="rect">
            <a:avLst/>
          </a:prstGeom>
          <a:solidFill>
            <a:schemeClr val="accent3">
              <a:lumMod val="40000"/>
              <a:lumOff val="60000"/>
              <a:alpha val="21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2">
                    <a:lumMod val="50000"/>
                  </a:schemeClr>
                </a:solidFill>
              </a:rPr>
              <a:t>Telegram…</a:t>
            </a:r>
            <a:endParaRPr lang="en-GB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41731596-1143-18AB-4A34-6A5C96F5D2EB}"/>
              </a:ext>
            </a:extLst>
          </p:cNvPr>
          <p:cNvCxnSpPr>
            <a:stCxn id="29" idx="3"/>
            <a:endCxn id="5" idx="2"/>
          </p:cNvCxnSpPr>
          <p:nvPr/>
        </p:nvCxnSpPr>
        <p:spPr>
          <a:xfrm flipV="1">
            <a:off x="1762125" y="1362075"/>
            <a:ext cx="1619250" cy="92313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599E1DB-DC58-3AB8-D3AF-41922BE0BFDC}"/>
              </a:ext>
            </a:extLst>
          </p:cNvPr>
          <p:cNvSpPr/>
          <p:nvPr/>
        </p:nvSpPr>
        <p:spPr>
          <a:xfrm>
            <a:off x="5314950" y="3761343"/>
            <a:ext cx="1536700" cy="46355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2">
                    <a:lumMod val="50000"/>
                  </a:schemeClr>
                </a:solidFill>
              </a:rPr>
              <a:t>LLM</a:t>
            </a:r>
            <a:endParaRPr lang="en-GB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E61AAB-2301-E5DD-25D5-796319966265}"/>
              </a:ext>
            </a:extLst>
          </p:cNvPr>
          <p:cNvSpPr/>
          <p:nvPr/>
        </p:nvSpPr>
        <p:spPr>
          <a:xfrm>
            <a:off x="7165975" y="3761343"/>
            <a:ext cx="1536700" cy="46355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 err="1">
                <a:solidFill>
                  <a:schemeClr val="tx2">
                    <a:lumMod val="50000"/>
                  </a:schemeClr>
                </a:solidFill>
              </a:rPr>
              <a:t>embeddings</a:t>
            </a:r>
            <a:endParaRPr lang="en-GB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34847D-E158-014E-4D90-D1EF873DEDDF}"/>
              </a:ext>
            </a:extLst>
          </p:cNvPr>
          <p:cNvSpPr txBox="1"/>
          <p:nvPr/>
        </p:nvSpPr>
        <p:spPr>
          <a:xfrm>
            <a:off x="5580273" y="3361293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/>
              <a:t>llama.cpp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36AF12-2AE2-3AD0-E92C-21A38038D882}"/>
              </a:ext>
            </a:extLst>
          </p:cNvPr>
          <p:cNvSpPr txBox="1"/>
          <p:nvPr/>
        </p:nvSpPr>
        <p:spPr>
          <a:xfrm>
            <a:off x="7386739" y="3378200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/>
              <a:t>llama.cpp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498C40-D4E3-1571-A514-945EB77C3ECB}"/>
              </a:ext>
            </a:extLst>
          </p:cNvPr>
          <p:cNvSpPr txBox="1"/>
          <p:nvPr/>
        </p:nvSpPr>
        <p:spPr>
          <a:xfrm>
            <a:off x="5200650" y="4768850"/>
            <a:ext cx="1765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000" dirty="0" err="1"/>
              <a:t>OpenAI-compatible</a:t>
            </a:r>
            <a:r>
              <a:rPr lang="hr-HR" sz="1000" dirty="0"/>
              <a:t> API</a:t>
            </a:r>
            <a:endParaRPr lang="en-GB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F166FE-F007-1D0F-6A57-CCF5776541F4}"/>
              </a:ext>
            </a:extLst>
          </p:cNvPr>
          <p:cNvSpPr txBox="1"/>
          <p:nvPr/>
        </p:nvSpPr>
        <p:spPr>
          <a:xfrm>
            <a:off x="7051675" y="4768850"/>
            <a:ext cx="1765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000" dirty="0" err="1"/>
              <a:t>OpenAI-compatible</a:t>
            </a:r>
            <a:r>
              <a:rPr lang="hr-HR" sz="1000" dirty="0"/>
              <a:t> API</a:t>
            </a:r>
            <a:endParaRPr lang="en-GB" sz="1000" dirty="0"/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3BD15E64-3934-D7F9-AF6A-5A3F23310DF2}"/>
              </a:ext>
            </a:extLst>
          </p:cNvPr>
          <p:cNvCxnSpPr>
            <a:stCxn id="4" idx="2"/>
            <a:endCxn id="36" idx="0"/>
          </p:cNvCxnSpPr>
          <p:nvPr/>
        </p:nvCxnSpPr>
        <p:spPr>
          <a:xfrm rot="16200000" flipH="1">
            <a:off x="5196458" y="2429891"/>
            <a:ext cx="1348343" cy="51446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F2255138-BA54-83D6-10FE-D4F43E662010}"/>
              </a:ext>
            </a:extLst>
          </p:cNvPr>
          <p:cNvCxnSpPr>
            <a:stCxn id="4" idx="2"/>
            <a:endCxn id="37" idx="0"/>
          </p:cNvCxnSpPr>
          <p:nvPr/>
        </p:nvCxnSpPr>
        <p:spPr>
          <a:xfrm rot="16200000" flipH="1">
            <a:off x="6091237" y="1535112"/>
            <a:ext cx="1365250" cy="232092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66" y="3680658"/>
            <a:ext cx="4814720" cy="1064306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dirty="0"/>
              <a:t>Provider router with fallback (local → hosted API</a:t>
            </a:r>
            <a:r>
              <a:rPr lang="hr-HR" dirty="0"/>
              <a:t>; </a:t>
            </a:r>
            <a:r>
              <a:rPr lang="hr-HR" dirty="0" err="1"/>
              <a:t>OpenRouter</a:t>
            </a:r>
            <a:r>
              <a:rPr lang="hr-HR" dirty="0"/>
              <a:t> </a:t>
            </a:r>
            <a:r>
              <a:rPr lang="hr-HR" dirty="0" err="1"/>
              <a:t>support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built-in</a:t>
            </a:r>
            <a:r>
              <a:rPr dirty="0"/>
              <a:t>)</a:t>
            </a:r>
          </a:p>
          <a:p>
            <a:pPr lvl="0"/>
            <a:r>
              <a:rPr lang="hr-HR" dirty="0" err="1"/>
              <a:t>Sessions</a:t>
            </a:r>
            <a:r>
              <a:rPr lang="hr-HR" dirty="0"/>
              <a:t> </a:t>
            </a:r>
            <a:r>
              <a:rPr lang="hr-HR" dirty="0" err="1"/>
              <a:t>tracked</a:t>
            </a:r>
            <a:r>
              <a:rPr lang="hr-HR" dirty="0"/>
              <a:t> per</a:t>
            </a:r>
            <a:r>
              <a:rPr dirty="0"/>
              <a:t>-user, role-aware (owner / admin / user), per-org</a:t>
            </a:r>
            <a:r>
              <a:rPr lang="hr-HR" dirty="0"/>
              <a:t>, </a:t>
            </a:r>
            <a:r>
              <a:rPr lang="hr-HR" dirty="0" err="1"/>
              <a:t>with</a:t>
            </a:r>
            <a:r>
              <a:rPr lang="hr-HR" dirty="0"/>
              <a:t> </a:t>
            </a:r>
            <a:r>
              <a:rPr lang="hr-HR" dirty="0" err="1"/>
              <a:t>shared</a:t>
            </a:r>
            <a:r>
              <a:rPr lang="hr-HR" dirty="0"/>
              <a:t> data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Local-model-optimised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110035"/>
              </p:ext>
            </p:extLst>
          </p:nvPr>
        </p:nvGraphicFramePr>
        <p:xfrm>
          <a:off x="457200" y="1193800"/>
          <a:ext cx="8229600" cy="1188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Reference rig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gemma-</a:t>
                      </a:r>
                      <a:r>
                        <a:rPr lang="hr-HR" dirty="0"/>
                        <a:t>4</a:t>
                      </a:r>
                      <a:r>
                        <a:rPr dirty="0"/>
                        <a:t> </a:t>
                      </a:r>
                      <a:r>
                        <a:rPr b="1" dirty="0"/>
                        <a:t>26B</a:t>
                      </a:r>
                      <a:r>
                        <a:rPr dirty="0"/>
                        <a:t> (A4B </a:t>
                      </a:r>
                      <a:r>
                        <a:rPr dirty="0" err="1"/>
                        <a:t>MoE</a:t>
                      </a:r>
                      <a:r>
                        <a:rPr dirty="0"/>
                        <a:t>), Q4, 120k </a:t>
                      </a:r>
                      <a:r>
                        <a:rPr dirty="0" err="1"/>
                        <a:t>ctx</a:t>
                      </a:r>
                      <a:r>
                        <a:rPr dirty="0"/>
                        <a:t>, llama.cpp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Prompt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~225–350 tok/s</a:t>
                      </a:r>
                      <a:r>
                        <a:t> (degrades with depth)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Token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~24–28 tok/s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hr-HR" dirty="0"/>
                        <a:t>First </a:t>
                      </a:r>
                      <a:r>
                        <a:rPr lang="hr-HR" dirty="0" err="1"/>
                        <a:t>interaction</a:t>
                      </a:r>
                      <a:r>
                        <a:rPr lang="hr-HR" dirty="0"/>
                        <a:t> time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≈ </a:t>
                      </a:r>
                      <a:r>
                        <a:rPr lang="hr-HR" b="1" dirty="0"/>
                        <a:t>17</a:t>
                      </a:r>
                      <a:r>
                        <a:rPr b="1" dirty="0"/>
                        <a:t> s</a:t>
                      </a:r>
                      <a:r>
                        <a:rPr dirty="0"/>
                        <a:t> before first </a:t>
                      </a:r>
                      <a:r>
                        <a:rPr lang="hr-HR" dirty="0" err="1"/>
                        <a:t>response</a:t>
                      </a:r>
                      <a:r>
                        <a:rPr dirty="0"/>
                        <a:t> token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050" name="Picture 2" descr="AOOSTAR MACO H255 Mini PC with AMD Ryzen 7 H255 and Radeon 780M Graphics">
            <a:extLst>
              <a:ext uri="{FF2B5EF4-FFF2-40B4-BE49-F238E27FC236}">
                <a16:creationId xmlns:a16="http://schemas.microsoft.com/office/drawing/2014/main" id="{9874EDA6-D8EC-B429-FAEE-C765792FE8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10732" t="21287" r="11992" b="19836"/>
          <a:stretch>
            <a:fillRect/>
          </a:stretch>
        </p:blipFill>
        <p:spPr bwMode="auto">
          <a:xfrm>
            <a:off x="1062808" y="2623813"/>
            <a:ext cx="2915155" cy="2221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F5AEA1-D609-0E18-B4A7-BF5A7B8A6A14}"/>
              </a:ext>
            </a:extLst>
          </p:cNvPr>
          <p:cNvSpPr txBox="1"/>
          <p:nvPr/>
        </p:nvSpPr>
        <p:spPr>
          <a:xfrm>
            <a:off x="4256028" y="2709688"/>
            <a:ext cx="39592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800" b="1" dirty="0"/>
              <a:t>AOOSTAR MACO 5</a:t>
            </a:r>
          </a:p>
          <a:p>
            <a:r>
              <a:rPr lang="hr-HR" dirty="0"/>
              <a:t>AMD </a:t>
            </a:r>
            <a:r>
              <a:rPr lang="hr-HR" dirty="0" err="1"/>
              <a:t>Ryzen</a:t>
            </a:r>
            <a:r>
              <a:rPr lang="hr-HR" dirty="0"/>
              <a:t> 7 H255, Radeon 780M </a:t>
            </a:r>
            <a:r>
              <a:rPr lang="hr-HR" dirty="0" err="1"/>
              <a:t>iGPU</a:t>
            </a:r>
            <a:endParaRPr lang="hr-HR" dirty="0"/>
          </a:p>
          <a:p>
            <a:r>
              <a:rPr lang="hr-HR" dirty="0"/>
              <a:t>32 GB </a:t>
            </a:r>
            <a:r>
              <a:rPr lang="hr-HR" dirty="0" err="1"/>
              <a:t>unified</a:t>
            </a:r>
            <a:r>
              <a:rPr lang="hr-HR" dirty="0"/>
              <a:t> </a:t>
            </a:r>
            <a:r>
              <a:rPr lang="hr-HR" dirty="0" err="1"/>
              <a:t>memory</a:t>
            </a:r>
            <a:r>
              <a:rPr lang="hr-HR" dirty="0"/>
              <a:t>, DDR5</a:t>
            </a:r>
          </a:p>
          <a:p>
            <a:endParaRPr lang="hr-HR" dirty="0"/>
          </a:p>
          <a:p>
            <a:r>
              <a:rPr lang="hr-HR" dirty="0"/>
              <a:t>≈ 270€ </a:t>
            </a:r>
            <a:r>
              <a:rPr lang="hr-HR" u="sng" dirty="0" err="1"/>
              <a:t>without</a:t>
            </a:r>
            <a:r>
              <a:rPr lang="hr-HR" u="sng" dirty="0"/>
              <a:t> RAM &amp; SSD</a:t>
            </a:r>
            <a:r>
              <a:rPr lang="hr-HR" dirty="0"/>
              <a:t> </a:t>
            </a:r>
            <a:r>
              <a:rPr lang="hr-HR" sz="1100" dirty="0"/>
              <a:t>(2006-06)</a:t>
            </a:r>
            <a:endParaRPr lang="hr-HR" u="sng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2E89A-976E-DCF3-1A0C-7BB7C62CC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LLM </a:t>
            </a:r>
            <a:r>
              <a:rPr lang="hr-HR" dirty="0" err="1"/>
              <a:t>performance</a:t>
            </a:r>
            <a:r>
              <a:rPr lang="hr-HR" dirty="0"/>
              <a:t>: </a:t>
            </a:r>
            <a:r>
              <a:rPr lang="hr-HR" dirty="0" err="1"/>
              <a:t>mostly</a:t>
            </a:r>
            <a:r>
              <a:rPr lang="hr-HR" dirty="0"/>
              <a:t> RAM </a:t>
            </a:r>
            <a:r>
              <a:rPr lang="hr-HR" dirty="0" err="1"/>
              <a:t>bandwidth</a:t>
            </a:r>
            <a:endParaRPr lang="en-GB" dirty="0"/>
          </a:p>
        </p:txBody>
      </p:sp>
      <p:pic>
        <p:nvPicPr>
          <p:cNvPr id="7" name="Picture 6" descr="The diagram presents a comparison of various computer components, such as unified memory and discrete GPUs, with specific capacities and prices.&#10;&#10;AI-generated content may be incorrect.">
            <a:extLst>
              <a:ext uri="{FF2B5EF4-FFF2-40B4-BE49-F238E27FC236}">
                <a16:creationId xmlns:a16="http://schemas.microsoft.com/office/drawing/2014/main" id="{5B56923B-7675-2946-DD16-2405C6D8E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582" y="1113908"/>
            <a:ext cx="5356835" cy="3742345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F938778D-CA05-1E3E-03EE-C6CBE3D0B716}"/>
              </a:ext>
            </a:extLst>
          </p:cNvPr>
          <p:cNvSpPr/>
          <p:nvPr/>
        </p:nvSpPr>
        <p:spPr>
          <a:xfrm flipH="1">
            <a:off x="4193792" y="1378781"/>
            <a:ext cx="1206433" cy="28245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100" dirty="0" err="1"/>
              <a:t>The</a:t>
            </a:r>
            <a:r>
              <a:rPr lang="hr-HR" sz="1100" dirty="0"/>
              <a:t> H255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960442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E6C13-757D-D571-1DB6-61C0E6CF0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But… UX </a:t>
            </a:r>
            <a:r>
              <a:rPr lang="hr-HR" dirty="0" err="1"/>
              <a:t>hugely</a:t>
            </a:r>
            <a:r>
              <a:rPr lang="hr-HR" dirty="0"/>
              <a:t> </a:t>
            </a:r>
            <a:r>
              <a:rPr lang="hr-HR" dirty="0" err="1"/>
              <a:t>depends</a:t>
            </a:r>
            <a:r>
              <a:rPr lang="hr-HR" dirty="0"/>
              <a:t> on PP, </a:t>
            </a:r>
            <a:r>
              <a:rPr lang="hr-HR" dirty="0" err="1"/>
              <a:t>which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comp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FC562-E917-CDB9-88EA-66CDFDD73F66}"/>
              </a:ext>
            </a:extLst>
          </p:cNvPr>
          <p:cNvSpPr txBox="1"/>
          <p:nvPr/>
        </p:nvSpPr>
        <p:spPr>
          <a:xfrm>
            <a:off x="6439099" y="4752855"/>
            <a:ext cx="2674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/>
              <a:t>PP=</a:t>
            </a:r>
            <a:r>
              <a:rPr lang="hr-HR" dirty="0" err="1"/>
              <a:t>Prompt</a:t>
            </a:r>
            <a:r>
              <a:rPr lang="hr-HR" dirty="0"/>
              <a:t> Processing</a:t>
            </a:r>
            <a:endParaRPr lang="en-GB" dirty="0"/>
          </a:p>
        </p:txBody>
      </p:sp>
      <p:pic>
        <p:nvPicPr>
          <p:cNvPr id="6" name="Picture 5" descr="The diagram compares the performance of two systems, one being compute-bound (limited by processing speed) and the other being bandwidth-bound (limited by data transfer rate), with specific benchmarks for token processing.&#10;&#10;AI-generated content may be incorrect.">
            <a:extLst>
              <a:ext uri="{FF2B5EF4-FFF2-40B4-BE49-F238E27FC236}">
                <a16:creationId xmlns:a16="http://schemas.microsoft.com/office/drawing/2014/main" id="{644B55D2-C291-6730-DCE2-B5091839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43" y="1265677"/>
            <a:ext cx="7460314" cy="312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852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51CE2-6184-0316-4DB3-3640D42A5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Example</a:t>
            </a:r>
            <a:r>
              <a:rPr lang="hr-HR" dirty="0"/>
              <a:t> </a:t>
            </a:r>
            <a:r>
              <a:rPr lang="hr-HR" dirty="0" err="1"/>
              <a:t>performance</a:t>
            </a:r>
            <a:r>
              <a:rPr lang="hr-HR" dirty="0"/>
              <a:t>: </a:t>
            </a:r>
            <a:r>
              <a:rPr lang="hr-HR" dirty="0" err="1"/>
              <a:t>Strix</a:t>
            </a:r>
            <a:r>
              <a:rPr lang="hr-HR" dirty="0"/>
              <a:t> Halo</a:t>
            </a:r>
            <a:endParaRPr lang="en-GB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4063705-7200-B114-C7B1-EB9D4021D2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1268574"/>
              </p:ext>
            </p:extLst>
          </p:nvPr>
        </p:nvGraphicFramePr>
        <p:xfrm>
          <a:off x="0" y="1242090"/>
          <a:ext cx="9144000" cy="261771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82172397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40997147"/>
                    </a:ext>
                  </a:extLst>
                </a:gridCol>
                <a:gridCol w="1661240">
                  <a:extLst>
                    <a:ext uri="{9D8B030D-6E8A-4147-A177-3AD203B41FA5}">
                      <a16:colId xmlns:a16="http://schemas.microsoft.com/office/drawing/2014/main" val="2170705989"/>
                    </a:ext>
                  </a:extLst>
                </a:gridCol>
                <a:gridCol w="1996360">
                  <a:extLst>
                    <a:ext uri="{9D8B030D-6E8A-4147-A177-3AD203B41FA5}">
                      <a16:colId xmlns:a16="http://schemas.microsoft.com/office/drawing/2014/main" val="225401012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709322952"/>
                    </a:ext>
                  </a:extLst>
                </a:gridCol>
              </a:tblGrid>
              <a:tr h="112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Model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Total / active params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Quant tested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PP speed (t/s)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TG speed (t/s)</a:t>
                      </a:r>
                    </a:p>
                  </a:txBody>
                  <a:tcPr marL="38789" marR="38789" marT="19395" marB="19395" anchor="ctr"/>
                </a:tc>
                <a:extLst>
                  <a:ext uri="{0D108BD9-81ED-4DB2-BD59-A6C34878D82A}">
                    <a16:rowId xmlns:a16="http://schemas.microsoft.com/office/drawing/2014/main" val="1280216076"/>
                  </a:ext>
                </a:extLst>
              </a:tr>
              <a:tr h="114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Llama 2 7B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7B / 7B dense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Q4_0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~1,000–1,294 </a:t>
                      </a:r>
                      <a:r>
                        <a:rPr lang="en-GB" sz="1200" dirty="0">
                          <a:hlinkClick r:id="rId2"/>
                        </a:rPr>
                        <a:t>Level1Techs</a:t>
                      </a:r>
                      <a:endParaRPr lang="en-GB" sz="1200" dirty="0"/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~46–48 </a:t>
                      </a:r>
                      <a:r>
                        <a:rPr lang="en-GB" sz="1200">
                          <a:hlinkClick r:id="rId2"/>
                        </a:rPr>
                        <a:t>Level1Techs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extLst>
                  <a:ext uri="{0D108BD9-81ED-4DB2-BD59-A6C34878D82A}">
                    <a16:rowId xmlns:a16="http://schemas.microsoft.com/office/drawing/2014/main" val="3838902882"/>
                  </a:ext>
                </a:extLst>
              </a:tr>
              <a:tr h="204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Qwen 3 30B-A3B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30B / 3B MoE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Q4_K_XL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~605 </a:t>
                      </a:r>
                      <a:r>
                        <a:rPr lang="en-GB" sz="1200" dirty="0">
                          <a:hlinkClick r:id="rId2"/>
                        </a:rPr>
                        <a:t>Level1Techs</a:t>
                      </a:r>
                      <a:endParaRPr lang="en-GB" sz="1200" dirty="0"/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66–72 </a:t>
                      </a:r>
                      <a:r>
                        <a:rPr lang="en-GB" sz="1200">
                          <a:hlinkClick r:id="rId2"/>
                        </a:rPr>
                        <a:t>Level1Techs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extLst>
                  <a:ext uri="{0D108BD9-81ED-4DB2-BD59-A6C34878D82A}">
                    <a16:rowId xmlns:a16="http://schemas.microsoft.com/office/drawing/2014/main" val="2586790397"/>
                  </a:ext>
                </a:extLst>
              </a:tr>
              <a:tr h="250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Gemma 4 26B-A4B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25.2B / 3.8B </a:t>
                      </a:r>
                      <a:r>
                        <a:rPr lang="en-GB" sz="1200" dirty="0" err="1"/>
                        <a:t>MoE</a:t>
                      </a:r>
                      <a:endParaRPr lang="en-GB" sz="1200" dirty="0"/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BF16 (Q8 ~2× faster)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~500–600 </a:t>
                      </a:r>
                      <a:r>
                        <a:rPr lang="en-GB" sz="1200">
                          <a:hlinkClick r:id="rId3"/>
                        </a:rPr>
                        <a:t>Akehir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~20 (≈40 at Q8) </a:t>
                      </a:r>
                      <a:r>
                        <a:rPr lang="en-GB" sz="1200">
                          <a:hlinkClick r:id="rId3"/>
                        </a:rPr>
                        <a:t>Akehir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extLst>
                  <a:ext uri="{0D108BD9-81ED-4DB2-BD59-A6C34878D82A}">
                    <a16:rowId xmlns:a16="http://schemas.microsoft.com/office/drawing/2014/main" val="536351738"/>
                  </a:ext>
                </a:extLst>
              </a:tr>
              <a:tr h="158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Gemma 4 E4B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1200" dirty="0" err="1"/>
                        <a:t>tiny</a:t>
                      </a:r>
                      <a:r>
                        <a:rPr lang="en-GB" sz="1200" dirty="0"/>
                        <a:t> </a:t>
                      </a:r>
                      <a:r>
                        <a:rPr lang="en-GB" sz="1200" dirty="0" err="1"/>
                        <a:t>MoE</a:t>
                      </a:r>
                      <a:endParaRPr lang="en-GB" sz="1200" dirty="0"/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BF16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~500–600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~20 </a:t>
                      </a:r>
                      <a:r>
                        <a:rPr lang="en-GB" sz="1200">
                          <a:hlinkClick r:id="rId3"/>
                        </a:rPr>
                        <a:t>Akehir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extLst>
                  <a:ext uri="{0D108BD9-81ED-4DB2-BD59-A6C34878D82A}">
                    <a16:rowId xmlns:a16="http://schemas.microsoft.com/office/drawing/2014/main" val="3466894445"/>
                  </a:ext>
                </a:extLst>
              </a:tr>
              <a:tr h="343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Qwen 3.6 35B-A3B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35B / 3B MoE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Q4-class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214 (at 128k depth) </a:t>
                      </a:r>
                      <a:r>
                        <a:rPr lang="en-GB" sz="1200">
                          <a:hlinkClick r:id="rId4"/>
                        </a:rPr>
                        <a:t>Nuxt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34.5 (at 131k depth) </a:t>
                      </a:r>
                      <a:r>
                        <a:rPr lang="en-GB" sz="1200">
                          <a:hlinkClick r:id="rId4"/>
                        </a:rPr>
                        <a:t>Nuxt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extLst>
                  <a:ext uri="{0D108BD9-81ED-4DB2-BD59-A6C34878D82A}">
                    <a16:rowId xmlns:a16="http://schemas.microsoft.com/office/drawing/2014/main" val="1383976005"/>
                  </a:ext>
                </a:extLst>
              </a:tr>
              <a:tr h="10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gpt-oss-120B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120B / ~5B MoE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MXFP4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~340 </a:t>
                      </a:r>
                      <a:r>
                        <a:rPr lang="en-GB" sz="1200">
                          <a:hlinkClick r:id="rId5"/>
                        </a:rPr>
                        <a:t>AIMultiple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~34 </a:t>
                      </a:r>
                      <a:r>
                        <a:rPr lang="en-GB" sz="1200">
                          <a:hlinkClick r:id="rId5"/>
                        </a:rPr>
                        <a:t>AIMultiple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extLst>
                  <a:ext uri="{0D108BD9-81ED-4DB2-BD59-A6C34878D82A}">
                    <a16:rowId xmlns:a16="http://schemas.microsoft.com/office/drawing/2014/main" val="2799974729"/>
                  </a:ext>
                </a:extLst>
              </a:tr>
              <a:tr h="158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Dots1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142B / 14B MoE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Q4_K_XL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~63 </a:t>
                      </a:r>
                      <a:r>
                        <a:rPr lang="en-GB" sz="1200">
                          <a:hlinkClick r:id="rId2"/>
                        </a:rPr>
                        <a:t>Level1Techs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~21 </a:t>
                      </a:r>
                      <a:r>
                        <a:rPr lang="en-GB" sz="1200">
                          <a:hlinkClick r:id="rId2"/>
                        </a:rPr>
                        <a:t>Level1Techs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extLst>
                  <a:ext uri="{0D108BD9-81ED-4DB2-BD59-A6C34878D82A}">
                    <a16:rowId xmlns:a16="http://schemas.microsoft.com/office/drawing/2014/main" val="4069512143"/>
                  </a:ext>
                </a:extLst>
              </a:tr>
              <a:tr h="112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Llama 4 Scout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109B / 17B MoE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Q4_K_XL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~264 </a:t>
                      </a:r>
                      <a:r>
                        <a:rPr lang="en-GB" sz="1200">
                          <a:hlinkClick r:id="rId2"/>
                        </a:rPr>
                        <a:t>Level1Techs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~17–19 </a:t>
                      </a:r>
                      <a:r>
                        <a:rPr lang="en-GB" sz="1200">
                          <a:hlinkClick r:id="rId2"/>
                        </a:rPr>
                        <a:t>Level1Techs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extLst>
                  <a:ext uri="{0D108BD9-81ED-4DB2-BD59-A6C34878D82A}">
                    <a16:rowId xmlns:a16="http://schemas.microsoft.com/office/drawing/2014/main" val="545759901"/>
                  </a:ext>
                </a:extLst>
              </a:tr>
              <a:tr h="114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Mistral Small 3.1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24B / 24B dense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Q4_K_XL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~317 </a:t>
                      </a:r>
                      <a:r>
                        <a:rPr lang="en-GB" sz="1200">
                          <a:hlinkClick r:id="rId2"/>
                        </a:rPr>
                        <a:t>Level1Techs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~14 </a:t>
                      </a:r>
                      <a:r>
                        <a:rPr lang="en-GB" sz="1200">
                          <a:hlinkClick r:id="rId2"/>
                        </a:rPr>
                        <a:t>Level1Techs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extLst>
                  <a:ext uri="{0D108BD9-81ED-4DB2-BD59-A6C34878D82A}">
                    <a16:rowId xmlns:a16="http://schemas.microsoft.com/office/drawing/2014/main" val="1156081179"/>
                  </a:ext>
                </a:extLst>
              </a:tr>
              <a:tr h="250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Gemma 4 31B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31B / 31B dense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BF16 (Q8 ~2× faster)</a:t>
                      </a:r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~100–150 (≈300 at Q8) </a:t>
                      </a:r>
                      <a:r>
                        <a:rPr lang="en-GB" sz="1200">
                          <a:hlinkClick r:id="rId3"/>
                        </a:rPr>
                        <a:t>Akehir</a:t>
                      </a:r>
                      <a:endParaRPr lang="en-GB" sz="1200"/>
                    </a:p>
                  </a:txBody>
                  <a:tcPr marL="38789" marR="38789" marT="19395" marB="193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~3–4 (≈6 at Q8) </a:t>
                      </a:r>
                      <a:r>
                        <a:rPr lang="en-GB" sz="1200" dirty="0" err="1">
                          <a:hlinkClick r:id="rId3"/>
                        </a:rPr>
                        <a:t>Akehir</a:t>
                      </a:r>
                      <a:endParaRPr lang="en-GB" sz="1200" dirty="0"/>
                    </a:p>
                  </a:txBody>
                  <a:tcPr marL="38789" marR="38789" marT="19395" marB="19395" anchor="ctr"/>
                </a:tc>
                <a:extLst>
                  <a:ext uri="{0D108BD9-81ED-4DB2-BD59-A6C34878D82A}">
                    <a16:rowId xmlns:a16="http://schemas.microsoft.com/office/drawing/2014/main" val="117653345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C5D64A3-6D29-B6CF-1C3E-8D3D462F2121}"/>
              </a:ext>
            </a:extLst>
          </p:cNvPr>
          <p:cNvSpPr txBox="1"/>
          <p:nvPr/>
        </p:nvSpPr>
        <p:spPr>
          <a:xfrm>
            <a:off x="457200" y="4038663"/>
            <a:ext cx="6424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b="1" dirty="0"/>
              <a:t>ATTN:</a:t>
            </a:r>
            <a:r>
              <a:rPr lang="hr-HR" dirty="0"/>
              <a:t> </a:t>
            </a:r>
            <a:r>
              <a:rPr lang="en-GB" dirty="0"/>
              <a:t>~</a:t>
            </a:r>
            <a:r>
              <a:rPr lang="hr-HR" dirty="0"/>
              <a:t>100</a:t>
            </a:r>
            <a:r>
              <a:rPr lang="en-GB" dirty="0"/>
              <a:t> t/s </a:t>
            </a:r>
            <a:r>
              <a:rPr lang="hr-HR" dirty="0"/>
              <a:t>PP, 5 t/s TG</a:t>
            </a:r>
            <a:r>
              <a:rPr lang="en-GB" dirty="0"/>
              <a:t> means a 4,000-token prompt takes </a:t>
            </a:r>
            <a:br>
              <a:rPr lang="hr-HR" dirty="0"/>
            </a:br>
            <a:r>
              <a:rPr lang="en-GB" u="sng" dirty="0"/>
              <a:t>~40 seconds</a:t>
            </a:r>
            <a:r>
              <a:rPr lang="en-GB" dirty="0"/>
              <a:t> before the first word appears, then generates at 5 t/s.</a:t>
            </a:r>
          </a:p>
        </p:txBody>
      </p:sp>
    </p:spTree>
    <p:extLst>
      <p:ext uri="{BB962C8B-B14F-4D97-AF65-F5344CB8AC3E}">
        <p14:creationId xmlns:p14="http://schemas.microsoft.com/office/powerpoint/2010/main" val="405725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Dynamic per-request deadlines from a rolling PP-rate estimate — no fixed timeouts</a:t>
            </a:r>
          </a:p>
          <a:p>
            <a:pPr lvl="0"/>
            <a:r>
              <a:t>Live prompt-processing progress streamed to the client (</a:t>
            </a:r>
            <a:r>
              <a:rPr>
                <a:latin typeface="Courier"/>
              </a:rPr>
              <a:t>return_progress</a:t>
            </a:r>
            <a:r>
              <a:t>)</a:t>
            </a:r>
          </a:p>
          <a:p>
            <a:pPr lvl="0"/>
            <a:r>
              <a:t>Cloud-API instincts (retry, fan out, “just make another call”) must be unlearned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One GPU, many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Background LLM work: memory extraction, conflict judges, </a:t>
            </a:r>
            <a:br>
              <a:rPr lang="hr-HR" dirty="0"/>
            </a:br>
            <a:r>
              <a:rPr dirty="0"/>
              <a:t>auto-titling, maintenance sweeps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2128908"/>
            <a:ext cx="4038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0"/>
              </a:spcBef>
              <a:buFont typeface="Arial"/>
              <a:buNone/>
            </a:pPr>
            <a:r>
              <a:rPr lang="en-GB" sz="2000" b="1" dirty="0"/>
              <a:t>Naive</a:t>
            </a:r>
          </a:p>
          <a:p>
            <a:pPr marL="0" indent="0">
              <a:buFont typeface="Arial"/>
              <a:buNone/>
            </a:pPr>
            <a:r>
              <a:rPr lang="en-GB" sz="2000" dirty="0"/>
              <a:t>Background jobs share llama.cpp slots with live turns → interleaved inference, everything slow</a:t>
            </a:r>
          </a:p>
          <a:p>
            <a:pPr marL="0" indent="0">
              <a:buFont typeface="Arial"/>
              <a:buNone/>
            </a:pPr>
            <a:r>
              <a:rPr lang="en-GB" sz="2000" dirty="0"/>
              <a:t>Worst at server start: a memory sweep degraded user turns </a:t>
            </a:r>
            <a:r>
              <a:rPr lang="en-GB" sz="2000" b="1" dirty="0"/>
              <a:t>for minutes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648200" y="2128908"/>
            <a:ext cx="4038600" cy="3394472"/>
          </a:xfrm>
          <a:prstGeom prst="rect">
            <a:avLst/>
          </a:prstGeom>
        </p:spPr>
        <p:txBody>
          <a:bodyPr/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0"/>
              </a:spcBef>
              <a:buFont typeface="Arial"/>
              <a:buNone/>
            </a:pPr>
            <a:r>
              <a:rPr lang="en-GB" sz="2000" b="1" dirty="0"/>
              <a:t>Harlequin</a:t>
            </a:r>
          </a:p>
          <a:p>
            <a:pPr marL="0" indent="0">
              <a:buFont typeface="Arial"/>
              <a:buNone/>
            </a:pPr>
            <a:r>
              <a:rPr lang="en-GB" sz="2000" dirty="0"/>
              <a:t>Single background slot + </a:t>
            </a:r>
            <a:r>
              <a:rPr lang="en-GB" sz="2000" b="1" dirty="0" err="1"/>
              <a:t>preemption</a:t>
            </a:r>
            <a:r>
              <a:rPr lang="en-GB" sz="2000" dirty="0"/>
              <a:t>: a live turn cancels the in-flight background completion; the job restarts later (</a:t>
            </a:r>
            <a:r>
              <a:rPr lang="en-GB" sz="2000" dirty="0" err="1"/>
              <a:t>restartable</a:t>
            </a:r>
            <a:r>
              <a:rPr lang="en-GB" sz="2000" dirty="0"/>
              <a:t> by design)</a:t>
            </a:r>
          </a:p>
          <a:p>
            <a:pPr marL="0" indent="0">
              <a:buFont typeface="Arial"/>
              <a:buNone/>
            </a:pPr>
            <a:r>
              <a:rPr lang="en-GB" sz="2000" dirty="0"/>
              <a:t>Measured: turn </a:t>
            </a:r>
            <a:r>
              <a:rPr lang="en-GB" sz="2000" dirty="0" err="1"/>
              <a:t>preempts</a:t>
            </a:r>
            <a:r>
              <a:rPr lang="en-GB" sz="2000" dirty="0"/>
              <a:t> a running judge in </a:t>
            </a:r>
            <a:r>
              <a:rPr lang="en-GB" sz="2000" b="1" dirty="0"/>
              <a:t>&lt; 1 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Gating keys off the provider: only the </a:t>
            </a:r>
            <a:r>
              <a:rPr>
                <a:latin typeface="Courier"/>
              </a:rPr>
              <a:t>local</a:t>
            </a:r>
            <a:r>
              <a:t> provider serializes — hosted APIs run background work in parallel.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KV-cache economics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Tokens processed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Wall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Mid-turn step (prefix matches KV)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~150 of 21k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~3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New turn, thinking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21,176 of 21,176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94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Reasoning tokens are </a:t>
            </a:r>
            <a:r>
              <a:rPr b="1"/>
              <a:t>in the KV but stripped from replayed history</a:t>
            </a:r>
            <a:r>
              <a:t> → prefix diverges every turn</a:t>
            </a:r>
          </a:p>
          <a:p>
            <a:pPr lvl="0"/>
            <a:r>
              <a:t>SWA models can’t partially rewind → all-or-nothing without checkpoints</a:t>
            </a:r>
          </a:p>
          <a:p>
            <a:pPr lvl="0"/>
            <a:r>
              <a:t>Mitigations, measured: </a:t>
            </a:r>
            <a:r>
              <a:rPr>
                <a:latin typeface="Courier"/>
              </a:rPr>
              <a:t>--swa-full</a:t>
            </a:r>
            <a:r>
              <a:t> (VRAM ↑) · context checkpoints (~106 MiB each, host RAM, share the </a:t>
            </a:r>
            <a:r>
              <a:rPr>
                <a:latin typeface="Courier"/>
              </a:rPr>
              <a:t>--cache-ram</a:t>
            </a:r>
            <a:r>
              <a:t> budget) · replay thinking (ctx ↑3k/turn)</a:t>
            </a:r>
          </a:p>
          <a:p>
            <a:pPr lvl="0"/>
            <a:r>
              <a:t>Harness rule: keep the prompt prefix </a:t>
            </a:r>
            <a:r>
              <a:rPr b="1"/>
              <a:t>byte-stable</a:t>
            </a:r>
            <a:r>
              <a:t> — deterministic tool order, stable system prompt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Client-server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Why: shared org memory, roles, usage accounting, </a:t>
            </a:r>
            <a:r>
              <a:rPr b="1"/>
              <a:t>one GPU for the whole org</a:t>
            </a:r>
          </a:p>
          <a:p>
            <a:pPr lvl="0"/>
            <a:r>
              <a:t>REST + SSE; turns stream tokens, thinking, tool calls, PP progress</a:t>
            </a:r>
          </a:p>
          <a:p>
            <a:pPr lvl="0"/>
            <a:r>
              <a:rPr i="1"/>
              <a:t>Interfaces</a:t>
            </a:r>
            <a:r>
              <a:t>: each session tagged with its medium — TUI, Web, Cron, Telegram</a:t>
            </a:r>
          </a:p>
          <a:p>
            <a:pPr lvl="0"/>
            <a:r>
              <a:t>Messages queue while a turn is in flight; </a:t>
            </a:r>
            <a:r>
              <a:rPr>
                <a:latin typeface="Courier"/>
              </a:rPr>
              <a:t>ask_user</a:t>
            </a:r>
            <a:r>
              <a:t> ends the turn cleanly</a:t>
            </a:r>
          </a:p>
          <a:p>
            <a:pPr lvl="0"/>
            <a:r>
              <a:t>TUI and web client kept at feature parity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Single-executable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t>One Go binary: skills, hats, SQL migrations, web UI — all </a:t>
            </a:r>
            <a:r>
              <a:rPr>
                <a:latin typeface="Courier"/>
              </a:rPr>
              <a:t>embed.FS</a:t>
            </a:r>
          </a:p>
          <a:p>
            <a:pPr lvl="0"/>
            <a:r>
              <a:t>SQLite compiled in (CGO + sqlite-vec); vendored headers, </a:t>
            </a:r>
            <a:r>
              <a:rPr b="1"/>
              <a:t>no system deps</a:t>
            </a:r>
          </a:p>
          <a:p>
            <a:pPr lvl="0"/>
            <a:r>
              <a:t>Baked assets deployed to the data dir with a hash manifest — local edits preserved, unchanged files upgraded</a:t>
            </a:r>
          </a:p>
          <a:p>
            <a:pPr lvl="0"/>
            <a:r>
              <a:t>Config: YAML for structure, </a:t>
            </a:r>
            <a:r>
              <a:rPr>
                <a:latin typeface="Courier"/>
              </a:rPr>
              <a:t>.env</a:t>
            </a:r>
            <a:r>
              <a:t> for secrets, env overrides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make</a:t>
            </a:r>
            <a:r>
              <a:rPr>
                <a:latin typeface="Courier"/>
              </a:rPr>
              <a:t> build   </a:t>
            </a:r>
            <a:r>
              <a:rPr i="1">
                <a:solidFill>
                  <a:srgbClr val="60A0B0"/>
                </a:solidFill>
                <a:latin typeface="Courier"/>
              </a:rPr>
              <a:t># CGO_ENABLED=1, -tags sqlite_fts5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scp</a:t>
            </a:r>
            <a:r>
              <a:rPr>
                <a:latin typeface="Courier"/>
              </a:rPr>
              <a:t> bin/harlequin-server you@box: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./harlequin-server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SQLite everywhere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dirty="0"/>
              <a:t>Three tiers:</a:t>
            </a:r>
          </a:p>
          <a:p>
            <a:pPr lvl="0" indent="0">
              <a:buNone/>
            </a:pPr>
            <a:r>
              <a:rPr sz="2100" dirty="0">
                <a:latin typeface="Courier"/>
              </a:rPr>
              <a:t>data/</a:t>
            </a:r>
            <a:r>
              <a:rPr sz="2100" dirty="0" err="1">
                <a:latin typeface="Courier"/>
              </a:rPr>
              <a:t>harlequin.db</a:t>
            </a:r>
            <a:r>
              <a:rPr sz="2100" dirty="0">
                <a:latin typeface="Courier"/>
              </a:rPr>
              <a:t>        system: users, tokens          data/</a:t>
            </a:r>
            <a:r>
              <a:rPr sz="2100" dirty="0" err="1">
                <a:latin typeface="Courier"/>
              </a:rPr>
              <a:t>shared.db</a:t>
            </a:r>
            <a:r>
              <a:rPr sz="2100" dirty="0">
                <a:latin typeface="Courier"/>
              </a:rPr>
              <a:t>           org: shared memories, docs     </a:t>
            </a:r>
            <a:endParaRPr lang="hr-HR" sz="2100" dirty="0">
              <a:latin typeface="Courier"/>
            </a:endParaRPr>
          </a:p>
          <a:p>
            <a:pPr lvl="0" indent="0">
              <a:buNone/>
            </a:pPr>
            <a:r>
              <a:rPr sz="2100" dirty="0">
                <a:latin typeface="Courier"/>
              </a:rPr>
              <a:t>data/users/&lt;id&gt;/</a:t>
            </a:r>
            <a:r>
              <a:rPr sz="2100" dirty="0" err="1">
                <a:latin typeface="Courier"/>
              </a:rPr>
              <a:t>user.db</a:t>
            </a:r>
            <a:r>
              <a:rPr sz="2100" dirty="0">
                <a:latin typeface="Courier"/>
              </a:rPr>
              <a:t>  memories, conversations, </a:t>
            </a:r>
            <a:r>
              <a:rPr sz="2100" dirty="0" err="1">
                <a:latin typeface="Courier"/>
              </a:rPr>
              <a:t>cron</a:t>
            </a:r>
            <a:endParaRPr lang="en-GB" sz="2100" dirty="0">
              <a:latin typeface="Courier"/>
            </a:endParaRPr>
          </a:p>
          <a:p>
            <a:pPr lvl="0"/>
            <a:r>
              <a:rPr lang="en-GB" dirty="0"/>
              <a:t>Per-user DBs opened per request, closed after — thousands of users, no connection pools</a:t>
            </a:r>
          </a:p>
          <a:p>
            <a:pPr lvl="0"/>
            <a:r>
              <a:rPr dirty="0"/>
              <a:t>No cross-file foreign keys: composite ids (</a:t>
            </a:r>
            <a:r>
              <a:rPr dirty="0">
                <a:latin typeface="Courier"/>
              </a:rPr>
              <a:t>u.4</a:t>
            </a:r>
            <a:r>
              <a:rPr dirty="0"/>
              <a:t> / </a:t>
            </a:r>
            <a:r>
              <a:rPr dirty="0">
                <a:latin typeface="Courier"/>
              </a:rPr>
              <a:t>s.7</a:t>
            </a:r>
            <a:r>
              <a:rPr dirty="0"/>
              <a:t>) fuse the tiers in code</a:t>
            </a:r>
          </a:p>
          <a:p>
            <a:pPr lvl="0"/>
            <a:r>
              <a:rPr dirty="0"/>
              <a:t>FTS5 + </a:t>
            </a:r>
            <a:r>
              <a:rPr dirty="0" err="1">
                <a:latin typeface="Courier"/>
              </a:rPr>
              <a:t>sqlite-vec</a:t>
            </a:r>
            <a:r>
              <a:rPr dirty="0"/>
              <a:t> in the same file</a:t>
            </a:r>
            <a:endParaRPr lang="hr-HR" dirty="0"/>
          </a:p>
          <a:p>
            <a:pPr lvl="1"/>
            <a:r>
              <a:rPr dirty="0"/>
              <a:t>full-text and vector search </a:t>
            </a:r>
            <a:r>
              <a:rPr b="1" dirty="0"/>
              <a:t>next to the data</a:t>
            </a:r>
          </a:p>
          <a:p>
            <a:pPr lvl="0"/>
            <a:r>
              <a:rPr dirty="0"/>
              <a:t>Backup = copy a directory; per-user isolation by construction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Sandboxed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pPr>
              <a:buNone/>
            </a:pPr>
            <a:r>
              <a:rPr lang="hr-HR" dirty="0"/>
              <a:t>JS</a:t>
            </a:r>
            <a:r>
              <a:rPr dirty="0"/>
              <a:t> sandbox and tools resolve </a:t>
            </a:r>
            <a:r>
              <a:rPr lang="hr-HR" dirty="0" err="1"/>
              <a:t>special</a:t>
            </a:r>
            <a:r>
              <a:rPr lang="hr-HR" dirty="0"/>
              <a:t> file </a:t>
            </a:r>
            <a:r>
              <a:rPr lang="hr-HR" dirty="0" err="1"/>
              <a:t>paths</a:t>
            </a:r>
            <a:r>
              <a:rPr lang="hr-HR" dirty="0"/>
              <a:t>:</a:t>
            </a:r>
            <a:endParaRPr dirty="0"/>
          </a:p>
          <a:p>
            <a:r>
              <a:rPr b="1" dirty="0">
                <a:latin typeface="Courier"/>
              </a:rPr>
              <a:t>skill://&lt;skill&gt;/&lt;path&gt;</a:t>
            </a:r>
            <a:r>
              <a:rPr dirty="0"/>
              <a:t>  — read-only files from a skill bundle; resolution honors overrides (hat → user → org → deployed); backs load()/include(), </a:t>
            </a:r>
            <a:r>
              <a:rPr dirty="0" err="1"/>
              <a:t>run_js</a:t>
            </a:r>
            <a:r>
              <a:rPr dirty="0"/>
              <a:t>, and </a:t>
            </a:r>
            <a:r>
              <a:rPr dirty="0" err="1"/>
              <a:t>cron</a:t>
            </a:r>
            <a:r>
              <a:rPr dirty="0"/>
              <a:t> </a:t>
            </a:r>
            <a:r>
              <a:rPr dirty="0" err="1"/>
              <a:t>js</a:t>
            </a:r>
            <a:r>
              <a:rPr dirty="0"/>
              <a:t> targets</a:t>
            </a:r>
          </a:p>
          <a:p>
            <a:r>
              <a:rPr b="1" dirty="0">
                <a:latin typeface="Courier"/>
              </a:rPr>
              <a:t>storage://&lt;path&gt;</a:t>
            </a:r>
            <a:r>
              <a:rPr dirty="0"/>
              <a:t>  — per-user persistent store (.storage): read / write / list / remove / exists; survives runs — generated parsers, saved recipes, web-watch baselines</a:t>
            </a:r>
          </a:p>
          <a:p>
            <a:r>
              <a:rPr b="1" dirty="0">
                <a:latin typeface="Courier"/>
              </a:rPr>
              <a:t>tmp://&lt;path&gt;</a:t>
            </a:r>
            <a:r>
              <a:rPr dirty="0"/>
              <a:t>  — per-user transient scratch (.</a:t>
            </a:r>
            <a:r>
              <a:rPr dirty="0" err="1"/>
              <a:t>tmp</a:t>
            </a:r>
            <a:r>
              <a:rPr dirty="0"/>
              <a:t>): same API, ephemeral — e.g. </a:t>
            </a:r>
            <a:r>
              <a:rPr dirty="0" err="1"/>
              <a:t>WebFetchDOM</a:t>
            </a:r>
            <a:r>
              <a:rPr dirty="0"/>
              <a:t> stashes a fetched page as a tmp:// handle</a:t>
            </a:r>
          </a:p>
          <a:p>
            <a:pPr>
              <a:buNone/>
            </a:pPr>
            <a:r>
              <a:rPr i="1" dirty="0"/>
              <a:t>One resolver; unknown scheme → error. No host filesystem or network outside these roots.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Embeddings to speed things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t>311M multilingual embedder (granite) on its own llama.cpp — cheap, always available</a:t>
            </a:r>
          </a:p>
          <a:p>
            <a:pPr lvl="0"/>
            <a:r>
              <a:t>Hybrid retrieval: FTS5 + vector legs fused with </a:t>
            </a:r>
            <a:r>
              <a:rPr b="1"/>
              <a:t>Reciprocal Rank Fusion</a:t>
            </a:r>
          </a:p>
          <a:p>
            <a:pPr lvl="0"/>
            <a:r>
              <a:t>Embeddings as a </a:t>
            </a:r>
            <a:r>
              <a:rPr b="1"/>
              <a:t>pre-filter for LLM judges</a:t>
            </a:r>
            <a:r>
              <a:t>: only top candidate pairs reach the 26B model</a:t>
            </a:r>
          </a:p>
          <a:p>
            <a:pPr lvl="0"/>
            <a:r>
              <a:t>Slot keys (</a:t>
            </a:r>
            <a:r>
              <a:rPr>
                <a:latin typeface="Courier"/>
              </a:rPr>
              <a:t>user.preferred_currency</a:t>
            </a:r>
            <a:r>
              <a:t>) get their own embedding leg</a:t>
            </a:r>
          </a:p>
          <a:p>
            <a:pPr marL="1270000" lvl="0" indent="0">
              <a:buNone/>
            </a:pPr>
            <a:r>
              <a:rPr sz="2000" b="1"/>
              <a:t>Theme:</a:t>
            </a:r>
            <a:r>
              <a:rPr sz="2000"/>
              <a:t> the 311M model runs constantly so the 26B model runs rarely.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Measured: slot-key embedding leg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1,000 synthetic org memories · 154 sloppy user queries · granite-embedding-311m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513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R@1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MRR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baseline (FTS + vec, RRF)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 key leg, w=0.25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0.812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 key leg, w=0.50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0.812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0.858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 key leg, w=4.0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 key</a:t>
                      </a:r>
                      <a:r>
                        <a:rPr b="1"/>
                        <a:t>+value</a:t>
                      </a:r>
                      <a:r>
                        <a:t>, w=2.0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0.755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Picture 1" descr="memslot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447800"/>
            <a:ext cx="403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memory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t>Two scopes: </a:t>
            </a:r>
            <a:r>
              <a:rPr b="1"/>
              <a:t>user</a:t>
            </a:r>
            <a:r>
              <a:t> (personal) and </a:t>
            </a:r>
            <a:r>
              <a:rPr b="1"/>
              <a:t>shared</a:t>
            </a:r>
            <a:r>
              <a:t> (org) — fused into one search view</a:t>
            </a:r>
          </a:p>
          <a:p>
            <a:pPr lvl="0"/>
            <a:r>
              <a:t>Slot keys: canonical attributes (</a:t>
            </a:r>
            <a:r>
              <a:rPr>
                <a:latin typeface="Courier"/>
              </a:rPr>
              <a:t>organisation.name</a:t>
            </a:r>
            <a:r>
              <a:t>) — idempotent writes, exact lookups</a:t>
            </a:r>
          </a:p>
          <a:p>
            <a:pPr lvl="0"/>
            <a:r>
              <a:t>Auto-extraction after each turn (background, preemptible), deduped against explicit writes</a:t>
            </a:r>
          </a:p>
          <a:p>
            <a:pPr lvl="0"/>
            <a:r>
              <a:t>Conflict detection on write: FTS+vector candidates → LLM judge, structured JSON, </a:t>
            </a:r>
            <a:r>
              <a:rPr b="1"/>
              <a:t>confidence ≥ 7 gate</a:t>
            </a:r>
          </a:p>
          <a:p>
            <a:pPr lvl="0"/>
            <a:r>
              <a:t>Provenance, TTL, pinning; cross-scope reconcile (an attribute can’t live in both scopes)</a:t>
            </a:r>
          </a:p>
          <a:p>
            <a:pPr lvl="0"/>
            <a:r>
              <a:t>Memory glob rendered into the system prompt; the rest recalled via </a:t>
            </a:r>
            <a:r>
              <a:rPr>
                <a:latin typeface="Courier"/>
              </a:rPr>
              <a:t>memory_search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Skill</a:t>
            </a:r>
            <a:r>
              <a:rPr lang="hr-HR" dirty="0"/>
              <a:t> </a:t>
            </a:r>
            <a:r>
              <a:rPr lang="hr-HR" dirty="0" err="1"/>
              <a:t>files</a:t>
            </a:r>
            <a:r>
              <a:rPr dirty="0"/>
              <a:t> are templated 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r>
              <a:rPr sz="1600" dirty="0"/>
              <a:t>Every skill / hat / system-prompt .md is run through a sandboxed JS template before use</a:t>
            </a:r>
          </a:p>
          <a:p>
            <a:r>
              <a:rPr sz="1600" dirty="0"/>
              <a:t>&lt;?</a:t>
            </a:r>
            <a:r>
              <a:rPr sz="1600" dirty="0" err="1"/>
              <a:t>js</a:t>
            </a:r>
            <a:r>
              <a:rPr sz="1600" dirty="0"/>
              <a:t> ... ?&gt; blocks execute</a:t>
            </a:r>
            <a:r>
              <a:rPr lang="hr-HR" sz="1600" dirty="0"/>
              <a:t>JavaScript;</a:t>
            </a:r>
            <a:r>
              <a:rPr sz="1600" dirty="0"/>
              <a:t> print()/</a:t>
            </a:r>
            <a:r>
              <a:rPr sz="1600" dirty="0" err="1"/>
              <a:t>println</a:t>
            </a:r>
            <a:r>
              <a:rPr sz="1600" dirty="0"/>
              <a:t>() splice output in place</a:t>
            </a:r>
          </a:p>
          <a:p>
            <a:r>
              <a:rPr sz="1600" dirty="0"/>
              <a:t>Same per-user </a:t>
            </a:r>
            <a:r>
              <a:rPr sz="1600" dirty="0" err="1"/>
              <a:t>ctx</a:t>
            </a:r>
            <a:r>
              <a:rPr sz="1600" dirty="0"/>
              <a:t> everywhere: </a:t>
            </a:r>
            <a:r>
              <a:rPr sz="1600" dirty="0" err="1"/>
              <a:t>ctx.user</a:t>
            </a:r>
            <a:r>
              <a:rPr sz="1600" dirty="0"/>
              <a:t>, </a:t>
            </a:r>
            <a:r>
              <a:rPr sz="1600" dirty="0" err="1"/>
              <a:t>ctx.date</a:t>
            </a:r>
            <a:r>
              <a:rPr sz="1600" dirty="0"/>
              <a:t>, </a:t>
            </a:r>
            <a:r>
              <a:rPr sz="1600" dirty="0" err="1"/>
              <a:t>ctx.memoryGlob</a:t>
            </a:r>
            <a:r>
              <a:rPr sz="1600" dirty="0"/>
              <a:t>(g), </a:t>
            </a:r>
            <a:r>
              <a:rPr sz="1600" dirty="0" err="1"/>
              <a:t>ctx.memorySearch</a:t>
            </a:r>
            <a:r>
              <a:rPr sz="1600" dirty="0"/>
              <a:t>(q), </a:t>
            </a:r>
            <a:r>
              <a:rPr sz="1600" dirty="0" err="1"/>
              <a:t>ctx.searchDocs</a:t>
            </a:r>
            <a:r>
              <a:rPr sz="1600" dirty="0"/>
              <a:t>(q)</a:t>
            </a:r>
          </a:p>
          <a:p>
            <a:r>
              <a:rPr sz="1600" dirty="0"/>
              <a:t>Lets a static prompt pull in live state at render time</a:t>
            </a:r>
            <a:endParaRPr lang="hr-HR" sz="1600" dirty="0"/>
          </a:p>
          <a:p>
            <a:r>
              <a:rPr sz="1600" dirty="0"/>
              <a:t>Fails closed: a JS error or timeout aborts the whole render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r>
              <a:rPr sz="1200">
                <a:solidFill>
                  <a:srgbClr val="333333"/>
                </a:solidFill>
                <a:latin typeface="Consolas"/>
              </a:rPr>
              <a:t>## What you know about the user</a:t>
            </a:r>
          </a:p>
          <a:p>
            <a:endParaRPr sz="1200">
              <a:solidFill>
                <a:srgbClr val="333333"/>
              </a:solidFill>
              <a:latin typeface="Consolas"/>
            </a:endParaRP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&lt;?js</a:t>
            </a: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var slots = ctx.memoryGlob("user.*");</a:t>
            </a: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if (slots.length &gt; 0) {</a:t>
            </a: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  for (var i = 0; i &lt; slots.length; i++) {</a:t>
            </a: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    println("- " + slots[i].key +</a:t>
            </a: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            ": " + slots[i].content);</a:t>
            </a: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  }</a:t>
            </a: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} else {</a:t>
            </a: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  println("- (nothing stored yet)");</a:t>
            </a: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}</a:t>
            </a: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?&gt;</a:t>
            </a:r>
          </a:p>
          <a:p>
            <a:r>
              <a:rPr sz="1000" i="1">
                <a:solidFill>
                  <a:srgbClr val="888888"/>
                </a:solidFill>
              </a:rPr>
              <a:t>— skills/system_prompt.md (excerpt)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A </a:t>
            </a:r>
            <a:r>
              <a:rPr b="1" dirty="0"/>
              <a:t>hat</a:t>
            </a:r>
            <a:r>
              <a:rPr dirty="0"/>
              <a:t> = persona per conversation</a:t>
            </a:r>
            <a:r>
              <a:rPr lang="hr-HR" dirty="0"/>
              <a:t> („</a:t>
            </a:r>
            <a:r>
              <a:rPr lang="hr-HR" dirty="0" err="1"/>
              <a:t>wearing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hat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an</a:t>
            </a:r>
            <a:r>
              <a:rPr lang="hr-HR" dirty="0"/>
              <a:t> </a:t>
            </a:r>
            <a:r>
              <a:rPr lang="hr-HR" dirty="0" err="1"/>
              <a:t>account</a:t>
            </a:r>
            <a:r>
              <a:rPr lang="hr-HR" dirty="0"/>
              <a:t> manager, I do X”)</a:t>
            </a:r>
            <a:r>
              <a:rPr dirty="0"/>
              <a:t>: own system prompt + curated skill set</a:t>
            </a:r>
          </a:p>
          <a:p>
            <a:pPr lvl="0" indent="0">
              <a:buNone/>
            </a:pPr>
            <a:r>
              <a:rPr dirty="0">
                <a:solidFill>
                  <a:srgbClr val="BC7A00"/>
                </a:solidFill>
                <a:latin typeface="Courier"/>
              </a:rPr>
              <a:t>---</a:t>
            </a: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description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Maintains the </a:t>
            </a:r>
            <a:r>
              <a:rPr dirty="0" err="1">
                <a:solidFill>
                  <a:srgbClr val="7D9029"/>
                </a:solidFill>
                <a:latin typeface="Courier"/>
              </a:rPr>
              <a:t>organisation's</a:t>
            </a:r>
            <a:r>
              <a:rPr dirty="0">
                <a:solidFill>
                  <a:srgbClr val="7D9029"/>
                </a:solidFill>
                <a:latin typeface="Courier"/>
              </a:rPr>
              <a:t> website.</a:t>
            </a: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skills</a:t>
            </a:r>
            <a:r>
              <a:rPr b="1" dirty="0">
                <a:solidFill>
                  <a:srgbClr val="007020"/>
                </a:solidFill>
                <a:latin typeface="Courier"/>
              </a:rPr>
              <a:t>:</a:t>
            </a:r>
            <a:r>
              <a:rPr dirty="0">
                <a:solidFill>
                  <a:srgbClr val="7D9029"/>
                </a:solidFill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[</a:t>
            </a:r>
            <a:r>
              <a:rPr dirty="0">
                <a:solidFill>
                  <a:srgbClr val="7D9029"/>
                </a:solidFill>
                <a:latin typeface="Courier"/>
              </a:rPr>
              <a:t>example-greeter</a:t>
            </a:r>
            <a:r>
              <a:rPr b="1" dirty="0">
                <a:solidFill>
                  <a:srgbClr val="007020"/>
                </a:solidFill>
                <a:latin typeface="Courier"/>
              </a:rPr>
              <a:t>]</a:t>
            </a:r>
            <a:br>
              <a:rPr dirty="0"/>
            </a:br>
            <a:r>
              <a:rPr dirty="0">
                <a:solidFill>
                  <a:srgbClr val="BC7A00"/>
                </a:solidFill>
                <a:latin typeface="Courier"/>
              </a:rPr>
              <a:t>---</a:t>
            </a: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You are Harlequin acting as the </a:t>
            </a:r>
            <a:r>
              <a:rPr dirty="0" err="1">
                <a:solidFill>
                  <a:srgbClr val="7D9029"/>
                </a:solidFill>
                <a:latin typeface="Courier"/>
              </a:rPr>
              <a:t>organisation's</a:t>
            </a:r>
            <a:r>
              <a:rPr dirty="0">
                <a:solidFill>
                  <a:srgbClr val="7D9029"/>
                </a:solidFill>
                <a:latin typeface="Courier"/>
              </a:rPr>
              <a:t> **webmaster**…</a:t>
            </a:r>
          </a:p>
          <a:p>
            <a:pPr lvl="0"/>
            <a:r>
              <a:rPr lang="hr-HR" dirty="0" err="1"/>
              <a:t>Hats</a:t>
            </a:r>
            <a:r>
              <a:rPr lang="hr-HR" dirty="0"/>
              <a:t> </a:t>
            </a:r>
            <a:r>
              <a:rPr lang="hr-HR" dirty="0" err="1"/>
              <a:t>can</a:t>
            </a:r>
            <a:r>
              <a:rPr lang="hr-HR" dirty="0"/>
              <a:t> </a:t>
            </a:r>
            <a:r>
              <a:rPr lang="hr-HR" dirty="0" err="1"/>
              <a:t>override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sets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tools</a:t>
            </a:r>
            <a:r>
              <a:rPr lang="hr-HR" dirty="0"/>
              <a:t>, </a:t>
            </a:r>
            <a:r>
              <a:rPr lang="hr-HR" dirty="0" err="1"/>
              <a:t>skills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system </a:t>
            </a:r>
            <a:r>
              <a:rPr lang="hr-HR" dirty="0" err="1"/>
              <a:t>prompt</a:t>
            </a:r>
            <a:endParaRPr dirty="0"/>
          </a:p>
          <a:p>
            <a:pPr lvl="0"/>
            <a:r>
              <a:rPr dirty="0"/>
              <a:t>Keeps the </a:t>
            </a:r>
            <a:r>
              <a:rPr b="1" dirty="0"/>
              <a:t>default</a:t>
            </a:r>
            <a:r>
              <a:rPr dirty="0"/>
              <a:t> prompt small — important when PP costs 95 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Notifications &amp; polling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Server-side notification store; clients </a:t>
            </a:r>
            <a:r>
              <a:rPr b="1"/>
              <a:t>poll once a minute</a:t>
            </a:r>
            <a:r>
              <a:t> + ack/dismiss</a:t>
            </a:r>
          </a:p>
          <a:p>
            <a:pPr lvl="0"/>
            <a:r>
              <a:t>Why polling: clients are ephemeral TUIs — presence tracking decides who gets pinged where</a:t>
            </a:r>
          </a:p>
          <a:p>
            <a:pPr lvl="0"/>
            <a:r>
              <a:t>Outbound channels: in-app, email (SMTP), Telegram — per-user config</a:t>
            </a:r>
          </a:p>
          <a:p>
            <a:pPr lvl="0"/>
            <a:r>
              <a:t>Producers: web-watch cron checks (JS, </a:t>
            </a:r>
            <a:r>
              <a:rPr b="1"/>
              <a:t>no LLM</a:t>
            </a:r>
            <a:r>
              <a:t>), auto-titler, </a:t>
            </a:r>
            <a:r>
              <a:rPr>
                <a:latin typeface="Courier"/>
              </a:rPr>
              <a:t>ask_user</a:t>
            </a:r>
            <a:r>
              <a:t>, scheduled skills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Cron kind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sandboxed script, DOM 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zero LLM tokens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full agent 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 whole conversation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No bash. </a:t>
            </a:r>
            <a:r>
              <a:rPr lang="hr-HR" dirty="0"/>
              <a:t>JavaScript</a:t>
            </a:r>
            <a:r>
              <a:rPr dirty="0"/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Pro: security</a:t>
            </a:r>
          </a:p>
          <a:p>
            <a:pPr lvl="0"/>
            <a:r>
              <a:rPr b="1" dirty="0"/>
              <a:t>sandbox</a:t>
            </a:r>
            <a:r>
              <a:rPr dirty="0"/>
              <a:t>: no filesystem, no exec, no network except allow-listed </a:t>
            </a:r>
            <a:r>
              <a:rPr dirty="0">
                <a:latin typeface="Courier"/>
              </a:rPr>
              <a:t>fetch</a:t>
            </a:r>
          </a:p>
          <a:p>
            <a:pPr lvl="0"/>
            <a:r>
              <a:rPr b="1" dirty="0"/>
              <a:t>Hard interrupt timeout</a:t>
            </a:r>
            <a:r>
              <a:rPr dirty="0"/>
              <a:t>, output caps</a:t>
            </a:r>
          </a:p>
          <a:p>
            <a:pPr lvl="0"/>
            <a:r>
              <a:rPr dirty="0"/>
              <a:t>Per-user </a:t>
            </a:r>
            <a:r>
              <a:rPr b="1" dirty="0"/>
              <a:t>virtual stores </a:t>
            </a:r>
            <a:r>
              <a:rPr dirty="0"/>
              <a:t>(</a:t>
            </a:r>
            <a:r>
              <a:rPr dirty="0">
                <a:latin typeface="Courier"/>
              </a:rPr>
              <a:t>tmp://</a:t>
            </a:r>
            <a:r>
              <a:rPr dirty="0"/>
              <a:t>, </a:t>
            </a:r>
            <a:r>
              <a:rPr dirty="0">
                <a:latin typeface="Courier"/>
              </a:rPr>
              <a:t>storage://</a:t>
            </a:r>
            <a:r>
              <a:rPr dirty="0"/>
              <a:t>) instead of paths</a:t>
            </a:r>
          </a:p>
          <a:p>
            <a:pPr lvl="0"/>
            <a:r>
              <a:rPr dirty="0"/>
              <a:t>Multi-user server: arbitrary shell </a:t>
            </a:r>
            <a:r>
              <a:rPr lang="hr-HR" dirty="0" err="1"/>
              <a:t>is</a:t>
            </a:r>
            <a:r>
              <a:rPr dirty="0"/>
              <a:t> never </a:t>
            </a:r>
            <a:r>
              <a:rPr lang="hr-HR" dirty="0" err="1"/>
              <a:t>the</a:t>
            </a:r>
            <a:r>
              <a:rPr dirty="0"/>
              <a:t> </a:t>
            </a:r>
            <a:r>
              <a:rPr lang="hr-HR" dirty="0" err="1"/>
              <a:t>first</a:t>
            </a:r>
            <a:r>
              <a:rPr lang="hr-HR" dirty="0"/>
              <a:t> </a:t>
            </a:r>
            <a:r>
              <a:rPr lang="hr-HR" dirty="0" err="1"/>
              <a:t>solution</a:t>
            </a:r>
            <a:endParaRPr lang="hr-HR" dirty="0"/>
          </a:p>
          <a:p>
            <a:pPr lvl="0"/>
            <a:r>
              <a:rPr lang="hr-HR" dirty="0"/>
              <a:t>(</a:t>
            </a:r>
            <a:r>
              <a:rPr lang="hr-HR" dirty="0" err="1"/>
              <a:t>will</a:t>
            </a:r>
            <a:r>
              <a:rPr lang="hr-HR" dirty="0"/>
              <a:t> </a:t>
            </a:r>
            <a:r>
              <a:rPr lang="hr-HR" dirty="0" err="1"/>
              <a:t>probably</a:t>
            </a:r>
            <a:r>
              <a:rPr lang="hr-HR" dirty="0"/>
              <a:t> </a:t>
            </a:r>
            <a:r>
              <a:rPr lang="hr-HR" dirty="0" err="1"/>
              <a:t>have</a:t>
            </a:r>
            <a:r>
              <a:rPr lang="hr-HR" dirty="0"/>
              <a:t> to use </a:t>
            </a:r>
            <a:r>
              <a:rPr lang="hr-HR" dirty="0" err="1"/>
              <a:t>it</a:t>
            </a:r>
            <a:r>
              <a:rPr lang="hr-HR" dirty="0"/>
              <a:t>…)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Con: flexibility</a:t>
            </a:r>
          </a:p>
          <a:p>
            <a:pPr lvl="0"/>
            <a:r>
              <a:rPr dirty="0"/>
              <a:t>ES5.1 + much of ES6 (</a:t>
            </a:r>
            <a:r>
              <a:rPr lang="hr-HR" dirty="0" err="1"/>
              <a:t>built-in</a:t>
            </a:r>
            <a:r>
              <a:rPr lang="hr-HR" dirty="0"/>
              <a:t> </a:t>
            </a:r>
            <a:r>
              <a:rPr lang="hr-HR" dirty="0" err="1"/>
              <a:t>interpreter</a:t>
            </a:r>
            <a:r>
              <a:rPr lang="hr-HR" dirty="0"/>
              <a:t> </a:t>
            </a:r>
            <a:r>
              <a:rPr lang="hr-HR" dirty="0" err="1"/>
              <a:t>named</a:t>
            </a:r>
            <a:r>
              <a:rPr lang="hr-HR" dirty="0"/>
              <a:t> „</a:t>
            </a:r>
            <a:r>
              <a:rPr lang="hr-HR" dirty="0" err="1"/>
              <a:t>goja</a:t>
            </a:r>
            <a:r>
              <a:rPr lang="hr-HR" dirty="0"/>
              <a:t>”</a:t>
            </a:r>
            <a:r>
              <a:rPr dirty="0"/>
              <a:t>) — no </a:t>
            </a:r>
            <a:r>
              <a:rPr dirty="0" err="1"/>
              <a:t>npm</a:t>
            </a:r>
            <a:r>
              <a:rPr dirty="0"/>
              <a:t>, no node APIs</a:t>
            </a:r>
          </a:p>
          <a:p>
            <a:pPr lvl="0"/>
            <a:r>
              <a:rPr dirty="0"/>
              <a:t>No external tools or pipes; everything via injected helpers (</a:t>
            </a:r>
            <a:r>
              <a:rPr dirty="0">
                <a:latin typeface="Courier"/>
              </a:rPr>
              <a:t>dom.*</a:t>
            </a:r>
            <a:r>
              <a:rPr dirty="0"/>
              <a:t>, </a:t>
            </a:r>
            <a:r>
              <a:rPr dirty="0">
                <a:latin typeface="Courier"/>
              </a:rPr>
              <a:t>fetch</a:t>
            </a:r>
            <a:r>
              <a:rPr dirty="0"/>
              <a:t>)</a:t>
            </a:r>
          </a:p>
          <a:p>
            <a:pPr lvl="0"/>
            <a:r>
              <a:rPr dirty="0"/>
              <a:t>Long-tail tasks need a helper added server-side first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Same sandbox everywhere: </a:t>
            </a:r>
            <a:r>
              <a:rPr>
                <a:latin typeface="Courier"/>
              </a:rPr>
              <a:t>run_js</a:t>
            </a:r>
            <a:r>
              <a:t> tool · skill templating · skill-defined tools · cron jobs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Making a 26B model behave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dirty="0"/>
              <a:t>System prompt engineering for small models: short sections, one rule per bullet, </a:t>
            </a:r>
            <a:r>
              <a:rPr b="1" dirty="0"/>
              <a:t>examples over abstractions</a:t>
            </a:r>
            <a:r>
              <a:rPr dirty="0"/>
              <a:t>, mechanical decision rules</a:t>
            </a:r>
          </a:p>
          <a:p>
            <a:pPr lvl="0"/>
            <a:r>
              <a:rPr dirty="0"/>
              <a:t>“Computed answers”: single expression → calculator; multi-step → </a:t>
            </a:r>
            <a:r>
              <a:rPr dirty="0" err="1">
                <a:latin typeface="Courier"/>
              </a:rPr>
              <a:t>run_js</a:t>
            </a:r>
            <a:r>
              <a:rPr dirty="0"/>
              <a:t>; the answer must repeat tool output </a:t>
            </a:r>
            <a:r>
              <a:rPr b="1" dirty="0"/>
              <a:t>exactly</a:t>
            </a:r>
          </a:p>
          <a:p>
            <a:pPr lvl="0"/>
            <a:r>
              <a:rPr dirty="0"/>
              <a:t>Judges: structured JSON + confidence gate (≥ 7) for every unattended decision</a:t>
            </a:r>
          </a:p>
          <a:p>
            <a:pPr lvl="0"/>
            <a:r>
              <a:rPr dirty="0"/>
              <a:t>Grounding: tool output is </a:t>
            </a:r>
            <a:r>
              <a:rPr b="1" dirty="0"/>
              <a:t>data, not instructions</a:t>
            </a:r>
            <a:r>
              <a:rPr dirty="0"/>
              <a:t> (web content!); “don’t know” beats guessing</a:t>
            </a:r>
          </a:p>
          <a:p>
            <a:pPr marL="1270000" lvl="0" indent="0">
              <a:buNone/>
            </a:pPr>
            <a:r>
              <a:rPr sz="2000" dirty="0"/>
              <a:t>Same 26B model, same question (“first 200 digits of π”): </a:t>
            </a:r>
            <a:r>
              <a:rPr sz="2000" b="1" dirty="0"/>
              <a:t>before</a:t>
            </a:r>
            <a:r>
              <a:rPr sz="2000" dirty="0"/>
              <a:t> — recites digits from its weights, ignores its own buggy script; </a:t>
            </a:r>
            <a:r>
              <a:rPr sz="2000" b="1" dirty="0"/>
              <a:t>after</a:t>
            </a:r>
            <a:r>
              <a:rPr sz="2000" dirty="0"/>
              <a:t> — writes a </a:t>
            </a:r>
            <a:r>
              <a:rPr sz="2000" dirty="0" err="1"/>
              <a:t>BigInt</a:t>
            </a:r>
            <a:r>
              <a:rPr sz="2000" dirty="0"/>
              <a:t> Machin series, self-corrects, answers from tool output.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Numbers recap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5921077"/>
              </p:ext>
            </p:extLst>
          </p:nvPr>
        </p:nvGraphicFramePr>
        <p:xfrm>
          <a:off x="457200" y="1193800"/>
          <a:ext cx="8229600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Chat model PP / TG (26B A4B, Q4, single GPU)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~225–350 / ~24–28 tok/s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21k-token prompt, cold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~95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21k-token prompt, KV hit (mid-turn)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~3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Background job preempted by a live 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&lt; 1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SWA context checkpoint </a:t>
                      </a:r>
                      <a:r>
                        <a:rPr lang="hr-HR" dirty="0" err="1"/>
                        <a:t>size</a:t>
                      </a:r>
                      <a:r>
                        <a:rPr lang="hr-HR" dirty="0"/>
                        <a:t> </a:t>
                      </a:r>
                      <a:r>
                        <a:rPr dirty="0"/>
                        <a:t>(this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~106 MiB host 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External services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0 (binary + llama.cpp)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image is a QR code.">
            <a:extLst>
              <a:ext uri="{FF2B5EF4-FFF2-40B4-BE49-F238E27FC236}">
                <a16:creationId xmlns:a16="http://schemas.microsoft.com/office/drawing/2014/main" id="{63379816-A70F-95B3-D2CB-06D3BBF7F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60" y="3442164"/>
            <a:ext cx="1701335" cy="17013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dirty="0"/>
              <a:t>Local models change harness design: </a:t>
            </a:r>
            <a:r>
              <a:rPr b="1" dirty="0"/>
              <a:t>schedule the GPU</a:t>
            </a:r>
            <a:r>
              <a:rPr dirty="0"/>
              <a:t> like a contended resource</a:t>
            </a:r>
          </a:p>
          <a:p>
            <a:pPr lvl="0"/>
            <a:r>
              <a:rPr dirty="0"/>
              <a:t>Keep prompt prefixes byte-stable; know your KV cache (SWA ≠ free reuse)</a:t>
            </a:r>
          </a:p>
          <a:p>
            <a:pPr lvl="0"/>
            <a:r>
              <a:rPr dirty="0"/>
              <a:t>Small embedders everywhere; the big model only behind candidate filters + confidence gates</a:t>
            </a:r>
          </a:p>
          <a:p>
            <a:pPr lvl="0"/>
            <a:r>
              <a:rPr dirty="0"/>
              <a:t>SQLite + </a:t>
            </a:r>
            <a:r>
              <a:rPr dirty="0" err="1">
                <a:latin typeface="Courier"/>
              </a:rPr>
              <a:t>embed.FS</a:t>
            </a:r>
            <a:r>
              <a:rPr dirty="0"/>
              <a:t> = an org-grade agent server that deploys as one file</a:t>
            </a:r>
          </a:p>
          <a:p>
            <a:pPr lvl="0"/>
            <a:r>
              <a:rPr dirty="0"/>
              <a:t>Sandboxed JS beats shell for multi-user agents — and costs you </a:t>
            </a:r>
            <a:r>
              <a:rPr dirty="0" err="1"/>
              <a:t>npm</a:t>
            </a:r>
            <a:endParaRPr dirty="0"/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br>
              <a:rPr lang="hr-HR" dirty="0">
                <a:latin typeface="Courier"/>
              </a:rPr>
            </a:br>
            <a:r>
              <a:rPr dirty="0">
                <a:latin typeface="Courier"/>
              </a:rPr>
              <a:t>github.com/</a:t>
            </a:r>
            <a:r>
              <a:rPr dirty="0" err="1">
                <a:latin typeface="Courier"/>
              </a:rPr>
              <a:t>ivoras</a:t>
            </a:r>
            <a:r>
              <a:rPr dirty="0">
                <a:latin typeface="Courier"/>
              </a:rPr>
              <a:t>/harlequin</a:t>
            </a:r>
            <a:r>
              <a:rPr dirty="0"/>
              <a:t> · </a:t>
            </a:r>
            <a:r>
              <a:rPr lang="hr-HR" b="1" dirty="0"/>
              <a:t>Star </a:t>
            </a:r>
            <a:r>
              <a:rPr lang="hr-HR" b="1" dirty="0" err="1"/>
              <a:t>it</a:t>
            </a:r>
            <a:r>
              <a:rPr lang="hr-HR" b="1" dirty="0"/>
              <a:t>!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96</TotalTime>
  <Words>2812</Words>
  <Application>Microsoft Office PowerPoint</Application>
  <PresentationFormat>On-screen Show (16:9)</PresentationFormat>
  <Paragraphs>307</Paragraphs>
  <Slides>30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Consolas</vt:lpstr>
      <vt:lpstr>Courier</vt:lpstr>
      <vt:lpstr>Office Theme</vt:lpstr>
      <vt:lpstr>Harlequin</vt:lpstr>
      <vt:lpstr>Why?</vt:lpstr>
      <vt:lpstr>What?</vt:lpstr>
      <vt:lpstr>PowerPoint Presentation</vt:lpstr>
      <vt:lpstr>PowerPoint Presentation</vt:lpstr>
      <vt:lpstr>Local-model-optimised</vt:lpstr>
      <vt:lpstr>LLM performance: mostly RAM bandwidth</vt:lpstr>
      <vt:lpstr>But… UX hugely depends on PP, which is comp</vt:lpstr>
      <vt:lpstr>Example performance: Strix Halo</vt:lpstr>
      <vt:lpstr>PowerPoint Presentation</vt:lpstr>
      <vt:lpstr>One GPU, many jobs</vt:lpstr>
      <vt:lpstr>PowerPoint Presentation</vt:lpstr>
      <vt:lpstr>KV-cache economics</vt:lpstr>
      <vt:lpstr>PowerPoint Presentation</vt:lpstr>
      <vt:lpstr>Client-server</vt:lpstr>
      <vt:lpstr>Single-executable deployment</vt:lpstr>
      <vt:lpstr>SQLite everywhere</vt:lpstr>
      <vt:lpstr>Sandboxed paths</vt:lpstr>
      <vt:lpstr>Embeddings to speed things up</vt:lpstr>
      <vt:lpstr>Measured: slot-key embedding leg</vt:lpstr>
      <vt:lpstr>PowerPoint Presentation</vt:lpstr>
      <vt:lpstr>The memory model</vt:lpstr>
      <vt:lpstr>Skill files are templated Markdown</vt:lpstr>
      <vt:lpstr>Hats</vt:lpstr>
      <vt:lpstr>Notifications &amp; polling</vt:lpstr>
      <vt:lpstr>No bash. JavaScript!</vt:lpstr>
      <vt:lpstr>PowerPoint Presentation</vt:lpstr>
      <vt:lpstr>Making a 26B model behave</vt:lpstr>
      <vt:lpstr>Numbers recap</vt:lpstr>
      <vt:lpstr>Takeaways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Harlequin</dc:title>
  <dc:creator>Ivan Voras · CroAI</dc:creator>
  <cp:keywords/>
  <cp:lastModifiedBy>Ivan Voras</cp:lastModifiedBy>
  <cp:revision>51</cp:revision>
  <dcterms:created xsi:type="dcterms:W3CDTF">2026-06-12T04:31:43Z</dcterms:created>
  <dcterms:modified xsi:type="dcterms:W3CDTF">2026-06-12T18:36:33Z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A local-first client-server AI agent harness</vt:lpwstr>
  </property>
  <property fmtid="{D5CDD505-2E9C-101B-9397-08002B2CF9AE}" pid="11" name="toc-title">
    <vt:lpwstr>Table of contents</vt:lpwstr>
  </property>
</Properties>
</file>